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1.mp4" ContentType="video/mp4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slide" Target="slides/slide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13" Type="http://schemas.openxmlformats.org/officeDocument/2006/relationships/image" Target="../media/image12.png"  /><Relationship Id="rId14" Type="http://schemas.openxmlformats.org/officeDocument/2006/relationships/image" Target="../media/image13.png"  /><Relationship Id="rId15" Type="http://schemas.openxmlformats.org/officeDocument/2006/relationships/image" Target="../media/image14.png"  /><Relationship Id="rId16" Type="http://schemas.openxmlformats.org/officeDocument/2006/relationships/image" Target="../media/image15.png"  /><Relationship Id="rId17" Type="http://schemas.openxmlformats.org/officeDocument/2006/relationships/image" Target="../media/image16.png"  /><Relationship Id="rId18" Type="http://schemas.openxmlformats.org/officeDocument/2006/relationships/image" Target="../media/image17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5.png"  /><Relationship Id="rId11" Type="http://schemas.openxmlformats.org/officeDocument/2006/relationships/image" Target="../media/image26.png"  /><Relationship Id="rId2" Type="http://schemas.openxmlformats.org/officeDocument/2006/relationships/image" Target="../media/image1.png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Relationship Id="rId7" Type="http://schemas.openxmlformats.org/officeDocument/2006/relationships/image" Target="../media/image22.png"  /><Relationship Id="rId8" Type="http://schemas.openxmlformats.org/officeDocument/2006/relationships/image" Target="../media/image23.png"  /><Relationship Id="rId9" Type="http://schemas.openxmlformats.org/officeDocument/2006/relationships/image" Target="../media/image2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0.png"  /><Relationship Id="rId11" Type="http://schemas.openxmlformats.org/officeDocument/2006/relationships/image" Target="../media/image31.png"  /><Relationship Id="rId2" Type="http://schemas.openxmlformats.org/officeDocument/2006/relationships/image" Target="../media/image1.png"  /><Relationship Id="rId3" Type="http://schemas.openxmlformats.org/officeDocument/2006/relationships/image" Target="../media/image2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Relationship Id="rId6" Type="http://schemas.openxmlformats.org/officeDocument/2006/relationships/image" Target="../media/image20.png"  /><Relationship Id="rId7" Type="http://schemas.openxmlformats.org/officeDocument/2006/relationships/image" Target="../media/image28.png"  /><Relationship Id="rId8" Type="http://schemas.openxmlformats.org/officeDocument/2006/relationships/image" Target="../media/image21.png"  /><Relationship Id="rId9" Type="http://schemas.openxmlformats.org/officeDocument/2006/relationships/image" Target="../media/image29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32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33.png"  /><Relationship Id="rId7" Type="http://schemas.openxmlformats.org/officeDocument/2006/relationships/image" Target="../media/image34.png"  /><Relationship Id="rId8" Type="http://schemas.openxmlformats.org/officeDocument/2006/relationships/image" Target="../media/image35.png"  /><Relationship Id="rId9" Type="http://schemas.openxmlformats.org/officeDocument/2006/relationships/image" Target="../media/image3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4.png"  /><Relationship Id="rId11" Type="http://schemas.openxmlformats.org/officeDocument/2006/relationships/image" Target="../media/image8.png"  /><Relationship Id="rId12" Type="http://schemas.openxmlformats.org/officeDocument/2006/relationships/image" Target="../media/image45.png"  /><Relationship Id="rId2" Type="http://schemas.openxmlformats.org/officeDocument/2006/relationships/image" Target="../media/image1.png"  /><Relationship Id="rId3" Type="http://schemas.openxmlformats.org/officeDocument/2006/relationships/image" Target="../media/image37.png"  /><Relationship Id="rId4" Type="http://schemas.openxmlformats.org/officeDocument/2006/relationships/image" Target="../media/image38.png"  /><Relationship Id="rId5" Type="http://schemas.openxmlformats.org/officeDocument/2006/relationships/image" Target="../media/image39.png"  /><Relationship Id="rId6" Type="http://schemas.openxmlformats.org/officeDocument/2006/relationships/image" Target="../media/image40.png"  /><Relationship Id="rId7" Type="http://schemas.openxmlformats.org/officeDocument/2006/relationships/image" Target="../media/image41.png"  /><Relationship Id="rId8" Type="http://schemas.openxmlformats.org/officeDocument/2006/relationships/image" Target="../media/image42.png"  /><Relationship Id="rId9" Type="http://schemas.openxmlformats.org/officeDocument/2006/relationships/image" Target="../media/image4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3.png"  /><Relationship Id="rId11" Type="http://schemas.openxmlformats.org/officeDocument/2006/relationships/image" Target="../media/image54.png"  /><Relationship Id="rId12" Type="http://schemas.openxmlformats.org/officeDocument/2006/relationships/image" Target="../media/image55.png"  /><Relationship Id="rId13" Type="http://schemas.openxmlformats.org/officeDocument/2006/relationships/image" Target="../media/image56.png"  /><Relationship Id="rId14" Type="http://schemas.openxmlformats.org/officeDocument/2006/relationships/image" Target="../media/image57.png"  /><Relationship Id="rId2" Type="http://schemas.openxmlformats.org/officeDocument/2006/relationships/image" Target="../media/image1.png"  /><Relationship Id="rId3" Type="http://schemas.openxmlformats.org/officeDocument/2006/relationships/image" Target="../media/image46.png"  /><Relationship Id="rId4" Type="http://schemas.openxmlformats.org/officeDocument/2006/relationships/image" Target="../media/image47.png"  /><Relationship Id="rId5" Type="http://schemas.openxmlformats.org/officeDocument/2006/relationships/image" Target="../media/image48.png"  /><Relationship Id="rId6" Type="http://schemas.openxmlformats.org/officeDocument/2006/relationships/image" Target="../media/image49.png"  /><Relationship Id="rId7" Type="http://schemas.openxmlformats.org/officeDocument/2006/relationships/image" Target="../media/image50.png"  /><Relationship Id="rId8" Type="http://schemas.openxmlformats.org/officeDocument/2006/relationships/image" Target="../media/image51.png"  /><Relationship Id="rId9" Type="http://schemas.openxmlformats.org/officeDocument/2006/relationships/image" Target="../media/image5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58.png"  /><Relationship Id="rId4" Type="http://schemas.openxmlformats.org/officeDocument/2006/relationships/image" Target="../media/image48.png"  /><Relationship Id="rId5" Type="http://schemas.openxmlformats.org/officeDocument/2006/relationships/image" Target="../media/image49.png"  /><Relationship Id="rId6" Type="http://schemas.openxmlformats.org/officeDocument/2006/relationships/image" Target="../media/image50.png"  /><Relationship Id="rId7" Type="http://schemas.openxmlformats.org/officeDocument/2006/relationships/image" Target="../media/image51.png"  /><Relationship Id="rId8" Type="http://schemas.openxmlformats.org/officeDocument/2006/relationships/image" Target="../media/image5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7.png"  /><Relationship Id="rId11" Type="http://schemas.openxmlformats.org/officeDocument/2006/relationships/image" Target="../media/image68.png"  /><Relationship Id="rId12" Type="http://schemas.openxmlformats.org/officeDocument/2006/relationships/image" Target="../media/image69.png"  /><Relationship Id="rId13" Type="http://schemas.openxmlformats.org/officeDocument/2006/relationships/image" Target="../media/image70.png"  /><Relationship Id="rId2" Type="http://schemas.openxmlformats.org/officeDocument/2006/relationships/image" Target="../media/image1.png"  /><Relationship Id="rId3" Type="http://schemas.openxmlformats.org/officeDocument/2006/relationships/image" Target="../media/image60.png"  /><Relationship Id="rId4" Type="http://schemas.openxmlformats.org/officeDocument/2006/relationships/image" Target="../media/image61.png"  /><Relationship Id="rId5" Type="http://schemas.openxmlformats.org/officeDocument/2006/relationships/image" Target="../media/image62.png"  /><Relationship Id="rId6" Type="http://schemas.openxmlformats.org/officeDocument/2006/relationships/image" Target="../media/image63.png"  /><Relationship Id="rId7" Type="http://schemas.openxmlformats.org/officeDocument/2006/relationships/image" Target="../media/image64.png"  /><Relationship Id="rId8" Type="http://schemas.openxmlformats.org/officeDocument/2006/relationships/image" Target="../media/image65.png"  /><Relationship Id="rId9" Type="http://schemas.openxmlformats.org/officeDocument/2006/relationships/image" Target="../media/image6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73.png"  /><Relationship Id="rId11" Type="http://schemas.openxmlformats.org/officeDocument/2006/relationships/image" Target="../media/image74.png"  /><Relationship Id="rId12" Type="http://schemas.openxmlformats.org/officeDocument/2006/relationships/image" Target="../media/image75.png"  /><Relationship Id="rId2" Type="http://schemas.openxmlformats.org/officeDocument/2006/relationships/image" Target="../media/image1.png"  /><Relationship Id="rId3" Type="http://schemas.openxmlformats.org/officeDocument/2006/relationships/image" Target="../media/image60.png"  /><Relationship Id="rId4" Type="http://schemas.openxmlformats.org/officeDocument/2006/relationships/image" Target="../media/image61.png"  /><Relationship Id="rId5" Type="http://schemas.openxmlformats.org/officeDocument/2006/relationships/image" Target="../media/image62.png"  /><Relationship Id="rId6" Type="http://schemas.openxmlformats.org/officeDocument/2006/relationships/image" Target="../media/image63.png"  /><Relationship Id="rId7" Type="http://schemas.openxmlformats.org/officeDocument/2006/relationships/image" Target="../media/image66.png"  /><Relationship Id="rId8" Type="http://schemas.openxmlformats.org/officeDocument/2006/relationships/image" Target="../media/image71.png"  /><Relationship Id="rId9" Type="http://schemas.openxmlformats.org/officeDocument/2006/relationships/image" Target="../media/image72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76.png"  /><Relationship Id="rId4" Type="http://schemas.openxmlformats.org/officeDocument/2006/relationships/image" Target="../media/image77.png"  /><Relationship Id="rId5" Type="http://schemas.openxmlformats.org/officeDocument/2006/relationships/image" Target="../media/image61.png"  /><Relationship Id="rId6" Type="http://schemas.openxmlformats.org/officeDocument/2006/relationships/image" Target="../media/image62.png"  /><Relationship Id="rId7" Type="http://schemas.openxmlformats.org/officeDocument/2006/relationships/image" Target="../media/image63.png"  /><Relationship Id="rId8" Type="http://schemas.openxmlformats.org/officeDocument/2006/relationships/image" Target="../media/image6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video" Target="../media/media1.mp4"  /><Relationship Id="rId2" Type="http://schemas.openxmlformats.org/officeDocument/2006/relationships/image" Target="../media/image1.png"  /><Relationship Id="rId3" Type="http://schemas.openxmlformats.org/officeDocument/2006/relationships/image" Target="../media/image78.png"  /><Relationship Id="rId4" Type="http://schemas.openxmlformats.org/officeDocument/2006/relationships/image" Target="../media/image61.png"  /><Relationship Id="rId5" Type="http://schemas.openxmlformats.org/officeDocument/2006/relationships/image" Target="../media/image62.png"  /><Relationship Id="rId6" Type="http://schemas.openxmlformats.org/officeDocument/2006/relationships/image" Target="../media/image63.png"  /><Relationship Id="rId7" Type="http://schemas.openxmlformats.org/officeDocument/2006/relationships/image" Target="../media/image66.png"  /><Relationship Id="rId8" Type="http://schemas.openxmlformats.org/officeDocument/2006/relationships/image" Target="../media/image79.png"  /><Relationship Id="rId9" Type="http://schemas.microsoft.com/office/2007/relationships/media" Target="../media/media1.mp4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80.png"  /><Relationship Id="rId4" Type="http://schemas.openxmlformats.org/officeDocument/2006/relationships/image" Target="../media/image81.png"  /><Relationship Id="rId5" Type="http://schemas.openxmlformats.org/officeDocument/2006/relationships/image" Target="../media/image82.png"  /><Relationship Id="rId6" Type="http://schemas.openxmlformats.org/officeDocument/2006/relationships/image" Target="../media/image61.png"  /><Relationship Id="rId7" Type="http://schemas.openxmlformats.org/officeDocument/2006/relationships/image" Target="../media/image62.png"  /><Relationship Id="rId8" Type="http://schemas.openxmlformats.org/officeDocument/2006/relationships/image" Target="../media/image63.png"  /><Relationship Id="rId9" Type="http://schemas.openxmlformats.org/officeDocument/2006/relationships/image" Target="../media/image66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83.png"  /><Relationship Id="rId4" Type="http://schemas.openxmlformats.org/officeDocument/2006/relationships/image" Target="../media/image82.png"  /><Relationship Id="rId5" Type="http://schemas.openxmlformats.org/officeDocument/2006/relationships/image" Target="../media/image61.png"  /><Relationship Id="rId6" Type="http://schemas.openxmlformats.org/officeDocument/2006/relationships/image" Target="../media/image62.png"  /><Relationship Id="rId7" Type="http://schemas.openxmlformats.org/officeDocument/2006/relationships/image" Target="../media/image63.png"  /><Relationship Id="rId8" Type="http://schemas.openxmlformats.org/officeDocument/2006/relationships/image" Target="../media/image66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1.png"  /><Relationship Id="rId11" Type="http://schemas.openxmlformats.org/officeDocument/2006/relationships/image" Target="../media/image92.png"  /><Relationship Id="rId12" Type="http://schemas.openxmlformats.org/officeDocument/2006/relationships/image" Target="../media/image93.png"  /><Relationship Id="rId13" Type="http://schemas.openxmlformats.org/officeDocument/2006/relationships/image" Target="../media/image94.png"  /><Relationship Id="rId14" Type="http://schemas.openxmlformats.org/officeDocument/2006/relationships/image" Target="../media/image95.png"  /><Relationship Id="rId15" Type="http://schemas.openxmlformats.org/officeDocument/2006/relationships/image" Target="../media/image96.png"  /><Relationship Id="rId2" Type="http://schemas.openxmlformats.org/officeDocument/2006/relationships/image" Target="../media/image1.png"  /><Relationship Id="rId3" Type="http://schemas.openxmlformats.org/officeDocument/2006/relationships/image" Target="../media/image84.png"  /><Relationship Id="rId4" Type="http://schemas.openxmlformats.org/officeDocument/2006/relationships/image" Target="../media/image85.png"  /><Relationship Id="rId5" Type="http://schemas.openxmlformats.org/officeDocument/2006/relationships/image" Target="../media/image86.png"  /><Relationship Id="rId6" Type="http://schemas.openxmlformats.org/officeDocument/2006/relationships/image" Target="../media/image87.png"  /><Relationship Id="rId7" Type="http://schemas.openxmlformats.org/officeDocument/2006/relationships/image" Target="../media/image88.png"  /><Relationship Id="rId8" Type="http://schemas.openxmlformats.org/officeDocument/2006/relationships/image" Target="../media/image89.png"  /><Relationship Id="rId9" Type="http://schemas.openxmlformats.org/officeDocument/2006/relationships/image" Target="../media/image9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97.png"  /><Relationship Id="rId4" Type="http://schemas.openxmlformats.org/officeDocument/2006/relationships/image" Target="../media/image94.png"  /><Relationship Id="rId5" Type="http://schemas.openxmlformats.org/officeDocument/2006/relationships/image" Target="../media/image95.png"  /><Relationship Id="rId6" Type="http://schemas.openxmlformats.org/officeDocument/2006/relationships/image" Target="../media/image96.png"  /><Relationship Id="rId7" Type="http://schemas.openxmlformats.org/officeDocument/2006/relationships/image" Target="../media/image98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05.png"  /><Relationship Id="rId11" Type="http://schemas.openxmlformats.org/officeDocument/2006/relationships/image" Target="../media/image106.png"  /><Relationship Id="rId12" Type="http://schemas.openxmlformats.org/officeDocument/2006/relationships/image" Target="../media/image107.png"  /><Relationship Id="rId13" Type="http://schemas.openxmlformats.org/officeDocument/2006/relationships/image" Target="../media/image108.png"  /><Relationship Id="rId14" Type="http://schemas.openxmlformats.org/officeDocument/2006/relationships/image" Target="../media/image109.png"  /><Relationship Id="rId15" Type="http://schemas.openxmlformats.org/officeDocument/2006/relationships/image" Target="../media/image110.png"  /><Relationship Id="rId16" Type="http://schemas.openxmlformats.org/officeDocument/2006/relationships/image" Target="../media/image111.png"  /><Relationship Id="rId2" Type="http://schemas.openxmlformats.org/officeDocument/2006/relationships/image" Target="../media/image1.png"  /><Relationship Id="rId3" Type="http://schemas.openxmlformats.org/officeDocument/2006/relationships/image" Target="../media/image99.png"  /><Relationship Id="rId4" Type="http://schemas.openxmlformats.org/officeDocument/2006/relationships/image" Target="../media/image100.png"  /><Relationship Id="rId5" Type="http://schemas.openxmlformats.org/officeDocument/2006/relationships/image" Target="../media/image3.png"  /><Relationship Id="rId6" Type="http://schemas.openxmlformats.org/officeDocument/2006/relationships/image" Target="../media/image101.png"  /><Relationship Id="rId7" Type="http://schemas.openxmlformats.org/officeDocument/2006/relationships/image" Target="../media/image102.png"  /><Relationship Id="rId8" Type="http://schemas.openxmlformats.org/officeDocument/2006/relationships/image" Target="../media/image103.png"  /><Relationship Id="rId9" Type="http://schemas.openxmlformats.org/officeDocument/2006/relationships/image" Target="../media/image104.png" 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850900" y="0"/>
            <a:ext cx="19786600" cy="774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60700" y="1079500"/>
            <a:ext cx="444500" cy="444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200000">
            <a:off x="508000" y="266700"/>
            <a:ext cx="1917700" cy="1917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4800000">
            <a:off x="16586200" y="292100"/>
            <a:ext cx="1574800" cy="1574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46000"/>
          </a:blip>
          <a:stretch>
            <a:fillRect/>
          </a:stretch>
        </p:blipFill>
        <p:spPr>
          <a:xfrm rot="-1620000">
            <a:off x="457200" y="3314700"/>
            <a:ext cx="1435100" cy="1663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200000">
            <a:off x="17297400" y="7874000"/>
            <a:ext cx="660400" cy="66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65000"/>
          </a:blip>
          <a:stretch>
            <a:fillRect/>
          </a:stretch>
        </p:blipFill>
        <p:spPr>
          <a:xfrm rot="7500000">
            <a:off x="558800" y="7480300"/>
            <a:ext cx="1371600" cy="135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1260000">
            <a:off x="14135100" y="-38100"/>
            <a:ext cx="1676400" cy="22098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032000" y="1308100"/>
            <a:ext cx="132334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400" b="true" i="false" u="none" strike="noStrike">
                <a:solidFill>
                  <a:srgbClr val="000000"/>
                </a:solidFill>
                <a:latin typeface="GyeonggiTitle Medium"/>
              </a:rPr>
              <a:t>     LLM </a:t>
            </a:r>
            <a:r>
              <a:rPr lang="ko-KR" sz="6400" b="true" i="false" u="none" strike="noStrike">
                <a:solidFill>
                  <a:srgbClr val="000000"/>
                </a:solidFill>
                <a:ea typeface="GyeonggiTitle Medium"/>
              </a:rPr>
              <a:t>챗봇</a:t>
            </a:r>
            <a:r>
              <a:rPr lang="en-US" sz="6400" b="true" i="false" u="none" strike="noStrike">
                <a:solidFill>
                  <a:srgbClr val="000000"/>
                </a:solidFill>
                <a:latin typeface="GyeonggiTitle Medium"/>
              </a:rPr>
              <a:t> </a:t>
            </a:r>
            <a:r>
              <a:rPr lang="ko-KR" sz="6400" b="true" i="false" u="none" strike="noStrike">
                <a:solidFill>
                  <a:srgbClr val="000000"/>
                </a:solidFill>
                <a:ea typeface="GyeonggiTitle Medium"/>
              </a:rPr>
              <a:t>기반</a:t>
            </a:r>
            <a:r>
              <a:rPr lang="en-US" sz="6400" b="true" i="false" u="none" strike="noStrike">
                <a:solidFill>
                  <a:srgbClr val="000000"/>
                </a:solidFill>
                <a:latin typeface="GyeonggiTitle Medium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en-US" sz="6400" b="true" i="false" u="none" strike="noStrike">
                <a:solidFill>
                  <a:srgbClr val="000000"/>
                </a:solidFill>
                <a:latin typeface="GyeonggiTitle Medium"/>
              </a:rPr>
              <a:t>       </a:t>
            </a:r>
            <a:r>
              <a:rPr lang="ko-KR" sz="6400" b="true" i="false" u="none" strike="noStrike">
                <a:solidFill>
                  <a:srgbClr val="000000"/>
                </a:solidFill>
                <a:ea typeface="GyeonggiTitle Medium"/>
              </a:rPr>
              <a:t>저속노화</a:t>
            </a:r>
            <a:r>
              <a:rPr lang="en-US" sz="6400" b="true" i="false" u="none" strike="noStrike">
                <a:solidFill>
                  <a:srgbClr val="000000"/>
                </a:solidFill>
                <a:latin typeface="GyeonggiTitle Medium"/>
              </a:rPr>
              <a:t> </a:t>
            </a:r>
            <a:r>
              <a:rPr lang="ko-KR" sz="6400" b="true" i="false" u="none" strike="noStrike">
                <a:solidFill>
                  <a:srgbClr val="000000"/>
                </a:solidFill>
                <a:ea typeface="GyeonggiTitle Medium"/>
              </a:rPr>
              <a:t>식단</a:t>
            </a:r>
            <a:r>
              <a:rPr lang="en-US" sz="6400" b="true" i="false" u="none" strike="noStrike">
                <a:solidFill>
                  <a:srgbClr val="000000"/>
                </a:solidFill>
                <a:latin typeface="GyeonggiTitle Medium"/>
              </a:rPr>
              <a:t> </a:t>
            </a:r>
            <a:r>
              <a:rPr lang="ko-KR" sz="6400" b="true" i="false" u="none" strike="noStrike">
                <a:solidFill>
                  <a:srgbClr val="000000"/>
                </a:solidFill>
                <a:ea typeface="GyeonggiTitle Medium"/>
              </a:rPr>
              <a:t>제공</a:t>
            </a:r>
            <a:r>
              <a:rPr lang="en-US" sz="6400" b="true" i="false" u="none" strike="noStrike">
                <a:solidFill>
                  <a:srgbClr val="000000"/>
                </a:solidFill>
                <a:latin typeface="GyeonggiTitle Medium"/>
              </a:rPr>
              <a:t> </a:t>
            </a:r>
            <a:r>
              <a:rPr lang="ko-KR" sz="6400" b="true" i="false" u="none" strike="noStrike">
                <a:solidFill>
                  <a:srgbClr val="000000"/>
                </a:solidFill>
                <a:ea typeface="GyeonggiTitle Medium"/>
              </a:rPr>
              <a:t>시스템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317500" y="9029700"/>
            <a:ext cx="19786600" cy="1257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-360000">
            <a:off x="2832100" y="9372600"/>
            <a:ext cx="3644900" cy="647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-360000">
            <a:off x="2794000" y="9436100"/>
            <a:ext cx="37084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383838"/>
                </a:solidFill>
                <a:latin typeface="GyeonggiTitle Light"/>
              </a:rPr>
              <a:t>#</a:t>
            </a:r>
            <a:r>
              <a:rPr lang="ko-KR" sz="2700" b="false" i="false" u="none" strike="noStrike">
                <a:solidFill>
                  <a:srgbClr val="383838"/>
                </a:solidFill>
                <a:ea typeface="GyeonggiTitle Light"/>
              </a:rPr>
              <a:t>저속노화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60000">
            <a:off x="6832600" y="9334500"/>
            <a:ext cx="3911600" cy="647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60000">
            <a:off x="6959600" y="9398000"/>
            <a:ext cx="38227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383838"/>
                </a:solidFill>
                <a:latin typeface="GyeonggiTitle Light"/>
              </a:rPr>
              <a:t>#</a:t>
            </a:r>
            <a:r>
              <a:rPr lang="ko-KR" sz="2700" b="false" i="false" u="none" strike="noStrike">
                <a:solidFill>
                  <a:srgbClr val="383838"/>
                </a:solidFill>
                <a:ea typeface="GyeonggiTitle Light"/>
              </a:rPr>
              <a:t>챗봇</a:t>
            </a:r>
            <a:r>
              <a:rPr lang="en-US" sz="27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false" i="false" u="none" strike="noStrike">
                <a:solidFill>
                  <a:srgbClr val="383838"/>
                </a:solidFill>
                <a:ea typeface="GyeonggiTitle Light"/>
              </a:rPr>
              <a:t>서비스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-300000">
            <a:off x="11176000" y="9423400"/>
            <a:ext cx="3771900" cy="647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708400" y="4140200"/>
            <a:ext cx="2603500" cy="3479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039100" y="4152900"/>
            <a:ext cx="2768600" cy="3479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357100" y="4140200"/>
            <a:ext cx="2743200" cy="3479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505200" y="7785100"/>
            <a:ext cx="2959100" cy="609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937500" y="7785100"/>
            <a:ext cx="2959100" cy="6096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319000" y="7785100"/>
            <a:ext cx="2959100" cy="6096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-300000">
            <a:off x="11328400" y="9486900"/>
            <a:ext cx="34671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383838"/>
                </a:solidFill>
                <a:latin typeface="GyeonggiTitle Light"/>
              </a:rPr>
              <a:t># </a:t>
            </a:r>
            <a:r>
              <a:rPr lang="ko-KR" sz="2700" b="false" i="false" u="none" strike="noStrike">
                <a:solidFill>
                  <a:srgbClr val="383838"/>
                </a:solidFill>
                <a:ea typeface="GyeonggiTitle Light"/>
              </a:rPr>
              <a:t>웹사이트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25900" y="7797800"/>
            <a:ext cx="1968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권지수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32800" y="7797800"/>
            <a:ext cx="19685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박하율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20700" y="7797800"/>
            <a:ext cx="11557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이진서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49300" y="-457200"/>
            <a:ext cx="19786600" cy="252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9440000">
            <a:off x="939800" y="-177800"/>
            <a:ext cx="2235200" cy="223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2400000">
            <a:off x="15481300" y="571500"/>
            <a:ext cx="1435100" cy="1435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81100" y="2159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요약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040000">
            <a:off x="2882900" y="-50800"/>
            <a:ext cx="1460500" cy="212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3200" y="6489700"/>
            <a:ext cx="3937000" cy="3416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42900" y="3873500"/>
            <a:ext cx="17462500" cy="63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241800" y="7035800"/>
            <a:ext cx="61976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42900" y="5918200"/>
            <a:ext cx="6985000" cy="63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327900" y="7302500"/>
            <a:ext cx="10490200" cy="635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66700" y="2019300"/>
            <a:ext cx="16002000" cy="166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latin typeface="GyeonggiTitle Medium"/>
              </a:rPr>
              <a:t>1. </a:t>
            </a:r>
            <a:r>
              <a:rPr lang="ko-KR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ea typeface="GyeonggiTitle Medium"/>
              </a:rPr>
              <a:t>주제</a:t>
            </a:r>
            <a:r>
              <a:rPr lang="en-US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latin typeface="GyeonggiTitle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ea typeface="GyeonggiTitle Medium"/>
              </a:rPr>
              <a:t>영역</a:t>
            </a:r>
          </a:p>
          <a:p>
            <a:pPr algn="l" lvl="1">
              <a:lnSpc>
                <a:spcPct val="747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현대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사회에서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기대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수명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증가와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함께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건강한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식단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관리의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중요성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부각</a:t>
            </a:r>
          </a:p>
          <a:p>
            <a:pPr algn="l" lvl="1">
              <a:lnSpc>
                <a:spcPct val="747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‘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저속노화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’: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신체적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·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정신적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변화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속도를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일반적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수준보다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느리게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유지하여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건강수명과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삶의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질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향상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6700" y="4102100"/>
            <a:ext cx="7251700" cy="165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latin typeface="GyeonggiTitle Medium"/>
              </a:rPr>
              <a:t>2. </a:t>
            </a:r>
            <a:r>
              <a:rPr lang="ko-KR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ea typeface="GyeonggiTitle Medium"/>
              </a:rPr>
              <a:t>활용</a:t>
            </a:r>
            <a:r>
              <a:rPr lang="en-US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latin typeface="GyeonggiTitle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ea typeface="GyeonggiTitle Medium"/>
              </a:rPr>
              <a:t>분야</a:t>
            </a:r>
          </a:p>
          <a:p>
            <a:pPr algn="l" lvl="1">
              <a:lnSpc>
                <a:spcPct val="747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저속노화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식습관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안내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및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실천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지원</a:t>
            </a:r>
          </a:p>
          <a:p>
            <a:pPr algn="l" lvl="1">
              <a:lnSpc>
                <a:spcPct val="747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개인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맞춤형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건강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관리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앱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및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웰니스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서비스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23200" y="4102100"/>
            <a:ext cx="10718800" cy="298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latin typeface="GyeonggiTitle Medium"/>
              </a:rPr>
              <a:t>3. </a:t>
            </a:r>
            <a:r>
              <a:rPr lang="ko-KR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ea typeface="GyeonggiTitle Medium"/>
              </a:rPr>
              <a:t>주요</a:t>
            </a:r>
            <a:r>
              <a:rPr lang="en-US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latin typeface="GyeonggiTitle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ea typeface="GyeonggiTitle Medium"/>
              </a:rPr>
              <a:t>기능</a:t>
            </a:r>
          </a:p>
          <a:p>
            <a:pPr algn="l" lvl="1">
              <a:lnSpc>
                <a:spcPct val="747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저속노화에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효과적인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식재료와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영양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성분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정보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체계적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수집</a:t>
            </a:r>
          </a:p>
          <a:p>
            <a:pPr algn="l" lvl="1">
              <a:lnSpc>
                <a:spcPct val="747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카테고리별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레시피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제공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: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밥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빵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면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샐러드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,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과일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등</a:t>
            </a:r>
          </a:p>
          <a:p>
            <a:pPr algn="l" lvl="1">
              <a:lnSpc>
                <a:spcPct val="747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사용자가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선택한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카테고리에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맞는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레시피와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재료별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영양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성분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제공</a:t>
            </a:r>
          </a:p>
          <a:p>
            <a:pPr algn="l" lvl="1">
              <a:lnSpc>
                <a:spcPct val="747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LLM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챗봇을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통한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실시간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질의응답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및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식단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추천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23200" y="7531100"/>
            <a:ext cx="10718800" cy="232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latin typeface="GyeonggiTitle Medium"/>
              </a:rPr>
              <a:t>4. </a:t>
            </a:r>
            <a:r>
              <a:rPr lang="ko-KR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ea typeface="GyeonggiTitle Medium"/>
              </a:rPr>
              <a:t>기대</a:t>
            </a:r>
            <a:r>
              <a:rPr lang="en-US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latin typeface="GyeonggiTitle Medium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highlight>
                  <a:srgbClr val="FECCBE"/>
                </a:highlight>
                <a:ea typeface="GyeonggiTitle Medium"/>
              </a:rPr>
              <a:t>효과</a:t>
            </a:r>
          </a:p>
          <a:p>
            <a:pPr algn="l" lvl="1">
              <a:lnSpc>
                <a:spcPct val="747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저속노화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식습관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실천률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향상</a:t>
            </a:r>
          </a:p>
          <a:p>
            <a:pPr algn="l" lvl="1">
              <a:lnSpc>
                <a:spcPct val="747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건강한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노화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촉진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및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삶의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질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개선</a:t>
            </a:r>
          </a:p>
          <a:p>
            <a:pPr algn="l" lvl="1">
              <a:lnSpc>
                <a:spcPct val="74700"/>
              </a:lnSpc>
            </a:pP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l" lvl="0" indent="-342900" marL="342900">
              <a:lnSpc>
                <a:spcPct val="747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정보가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흩어져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있는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레시피와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영양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데이터의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접근성과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활용성</a:t>
            </a:r>
            <a:r>
              <a:rPr lang="en-US" sz="29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2900" b="false" i="false" u="none" strike="noStrike">
                <a:solidFill>
                  <a:srgbClr val="000000"/>
                </a:solidFill>
                <a:ea typeface="GyeonggiTitle Light"/>
              </a:rPr>
              <a:t>증대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2298700"/>
            <a:ext cx="6172200" cy="3975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49300" y="-457200"/>
            <a:ext cx="19786600" cy="2527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19440000">
            <a:off x="939800" y="-177800"/>
            <a:ext cx="2235200" cy="223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2400000">
            <a:off x="15481300" y="571500"/>
            <a:ext cx="1435100" cy="1435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81100" y="2159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저속노화란</a:t>
            </a:r>
            <a:r>
              <a:rPr lang="en-US" sz="6800" b="false" i="false" u="none" strike="noStrike">
                <a:solidFill>
                  <a:srgbClr val="383838"/>
                </a:solidFill>
                <a:latin typeface="GyeonggiTitle Medium"/>
              </a:rPr>
              <a:t> ?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90600" y="2501900"/>
            <a:ext cx="5778500" cy="3606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040000">
            <a:off x="2882900" y="-50800"/>
            <a:ext cx="1460500" cy="2120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810000" y="5803900"/>
            <a:ext cx="4559300" cy="3873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975100" y="6057900"/>
            <a:ext cx="4165600" cy="3378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636000" y="2438400"/>
            <a:ext cx="8585200" cy="6108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4655800" y="9461500"/>
            <a:ext cx="3479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600" b="false" i="false" u="none" strike="noStrike">
                <a:solidFill>
                  <a:srgbClr val="9E9E9E"/>
                </a:solidFill>
                <a:ea typeface="GyeonggiTitle Light"/>
              </a:rPr>
              <a:t>출처</a:t>
            </a:r>
            <a:r>
              <a:rPr lang="en-US" sz="2600" b="false" i="false" u="none" strike="noStrike">
                <a:solidFill>
                  <a:srgbClr val="9E9E9E"/>
                </a:solidFill>
                <a:latin typeface="GyeonggiTitle Light"/>
              </a:rPr>
              <a:t>: </a:t>
            </a:r>
            <a:r>
              <a:rPr lang="ko-KR" sz="2600" b="false" i="false" u="none" strike="noStrike">
                <a:solidFill>
                  <a:srgbClr val="9E9E9E"/>
                </a:solidFill>
                <a:ea typeface="GyeonggiTitle Light"/>
              </a:rPr>
              <a:t>네이버</a:t>
            </a:r>
            <a:r>
              <a:rPr lang="en-US" sz="2600" b="false" i="false" u="none" strike="noStrike">
                <a:solidFill>
                  <a:srgbClr val="9E9E9E"/>
                </a:solidFill>
                <a:latin typeface="GyeonggiTitle Light"/>
              </a:rPr>
              <a:t> </a:t>
            </a:r>
            <a:r>
              <a:rPr lang="ko-KR" sz="2600" b="false" i="false" u="none" strike="noStrike">
                <a:solidFill>
                  <a:srgbClr val="9E9E9E"/>
                </a:solidFill>
                <a:ea typeface="GyeonggiTitle Light"/>
              </a:rPr>
              <a:t>블로그</a:t>
            </a:r>
            <a:r>
              <a:rPr lang="en-US" sz="2600" b="false" i="false" u="none" strike="noStrike">
                <a:solidFill>
                  <a:srgbClr val="9E9E9E"/>
                </a:solidFill>
                <a:latin typeface="GyeonggiTitle Light"/>
              </a:rPr>
              <a:t>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327400"/>
            <a:ext cx="7607300" cy="4318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700" b="true" i="false" u="none" strike="noStrike">
                <a:solidFill>
                  <a:srgbClr val="383838"/>
                </a:solidFill>
                <a:highlight>
                  <a:srgbClr val="B8E9FF"/>
                </a:highlight>
                <a:ea typeface="GyeonggiTitle Light"/>
              </a:rPr>
              <a:t>저속노화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는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신체적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·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정신적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변화를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일반적인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속도보다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l" lvl="0">
              <a:lnSpc>
                <a:spcPct val="132800"/>
              </a:lnSpc>
            </a:pP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느리게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일어나도록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하는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과정을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말합니다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.</a:t>
            </a:r>
          </a:p>
          <a:p>
            <a:pPr algn="l" lvl="0">
              <a:lnSpc>
                <a:spcPct val="132800"/>
              </a:lnSpc>
            </a:pP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/>
            </a:r>
          </a:p>
          <a:p>
            <a:pPr algn="l" lvl="0">
              <a:lnSpc>
                <a:spcPct val="132800"/>
              </a:lnSpc>
            </a:pP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건강수명을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늘리고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삶의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질을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향상시키는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것을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l" lvl="0">
              <a:lnSpc>
                <a:spcPct val="132800"/>
              </a:lnSpc>
            </a:pP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목표로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하며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,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올바른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식습관이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핵심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요인으로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꼽힙니다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.</a:t>
            </a:r>
          </a:p>
          <a:p>
            <a:pPr algn="l" lvl="0">
              <a:lnSpc>
                <a:spcPct val="132800"/>
              </a:lnSpc>
            </a:pP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/>
            </a:r>
          </a:p>
          <a:p>
            <a:pPr algn="l" lvl="0">
              <a:lnSpc>
                <a:spcPct val="132800"/>
              </a:lnSpc>
            </a:pP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특히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균형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잡힌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채식과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항산화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식단은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l" lvl="0">
              <a:lnSpc>
                <a:spcPct val="132800"/>
              </a:lnSpc>
            </a:pP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세포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true" i="false" u="none" strike="noStrike">
                <a:solidFill>
                  <a:srgbClr val="383838"/>
                </a:solidFill>
                <a:ea typeface="GyeonggiTitle Light"/>
              </a:rPr>
              <a:t>손상을</a:t>
            </a:r>
            <a:r>
              <a:rPr lang="en-US" sz="2700" b="tru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  <a:r>
              <a:rPr lang="ko-KR" sz="2700" b="false" i="false" u="none" strike="noStrike">
                <a:solidFill>
                  <a:srgbClr val="383838"/>
                </a:solidFill>
                <a:ea typeface="GyeonggiTitle Light"/>
              </a:rPr>
              <a:t>줄여</a:t>
            </a:r>
            <a:r>
              <a:rPr lang="en-US" sz="27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false" i="false" u="none" strike="noStrike">
                <a:solidFill>
                  <a:srgbClr val="383838"/>
                </a:solidFill>
                <a:ea typeface="GyeonggiTitle Light"/>
              </a:rPr>
              <a:t>노화</a:t>
            </a:r>
            <a:r>
              <a:rPr lang="en-US" sz="27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false" i="false" u="none" strike="noStrike">
                <a:solidFill>
                  <a:srgbClr val="383838"/>
                </a:solidFill>
                <a:ea typeface="GyeonggiTitle Light"/>
              </a:rPr>
              <a:t>속도를</a:t>
            </a:r>
            <a:r>
              <a:rPr lang="en-US" sz="27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false" i="false" u="none" strike="noStrike">
                <a:solidFill>
                  <a:srgbClr val="383838"/>
                </a:solidFill>
                <a:ea typeface="GyeonggiTitle Light"/>
              </a:rPr>
              <a:t>늦추는</a:t>
            </a:r>
            <a:r>
              <a:rPr lang="en-US" sz="27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false" i="false" u="none" strike="noStrike">
                <a:solidFill>
                  <a:srgbClr val="383838"/>
                </a:solidFill>
                <a:ea typeface="GyeonggiTitle Light"/>
              </a:rPr>
              <a:t>데</a:t>
            </a:r>
            <a:r>
              <a:rPr lang="en-US" sz="27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false" i="false" u="none" strike="noStrike">
                <a:solidFill>
                  <a:srgbClr val="383838"/>
                </a:solidFill>
                <a:ea typeface="GyeonggiTitle Light"/>
              </a:rPr>
              <a:t>도움을</a:t>
            </a:r>
            <a:r>
              <a:rPr lang="en-US" sz="27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700" b="false" i="false" u="none" strike="noStrike">
                <a:solidFill>
                  <a:srgbClr val="383838"/>
                </a:solidFill>
                <a:ea typeface="GyeonggiTitle Light"/>
              </a:rPr>
              <a:t>줍니다</a:t>
            </a:r>
            <a:r>
              <a:rPr lang="en-US" sz="2700" b="false" i="false" u="none" strike="noStrike">
                <a:solidFill>
                  <a:srgbClr val="383838"/>
                </a:solidFill>
                <a:latin typeface="GyeonggiTitle Ligh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457200" y="-939800"/>
            <a:ext cx="19786600" cy="288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9440000">
            <a:off x="1181100" y="-177800"/>
            <a:ext cx="2235200" cy="223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2400000">
            <a:off x="13411200" y="203200"/>
            <a:ext cx="1435100" cy="1435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41400" y="889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배경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040000">
            <a:off x="3111500" y="-114300"/>
            <a:ext cx="1422400" cy="205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22300" y="2197100"/>
            <a:ext cx="7734300" cy="439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10700" y="2692400"/>
            <a:ext cx="7391400" cy="4724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30300" y="7035800"/>
            <a:ext cx="10820400" cy="2959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2255500" y="9537700"/>
            <a:ext cx="5880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C2C2C2"/>
                </a:solidFill>
                <a:ea typeface="GyeonggiTitle Light"/>
              </a:rPr>
              <a:t>출처</a:t>
            </a:r>
            <a:r>
              <a:rPr lang="en-US" sz="2700" b="false" i="false" u="none" strike="noStrike">
                <a:solidFill>
                  <a:srgbClr val="C2C2C2"/>
                </a:solidFill>
                <a:latin typeface="GyeonggiTitle Light"/>
              </a:rPr>
              <a:t>:  </a:t>
            </a:r>
            <a:r>
              <a:rPr lang="ko-KR" sz="2700" b="false" i="false" u="none" strike="noStrike">
                <a:solidFill>
                  <a:srgbClr val="C2C2C2"/>
                </a:solidFill>
                <a:ea typeface="GyeonggiTitle Light"/>
              </a:rPr>
              <a:t>중부일보</a:t>
            </a:r>
            <a:r>
              <a:rPr lang="en-US" sz="2700" b="false" i="false" u="none" strike="noStrike">
                <a:solidFill>
                  <a:srgbClr val="C2C2C2"/>
                </a:solidFill>
                <a:latin typeface="GyeonggiTitle Light"/>
              </a:rPr>
              <a:t>, </a:t>
            </a:r>
            <a:r>
              <a:rPr lang="ko-KR" sz="2700" b="false" i="false" u="none" strike="noStrike">
                <a:solidFill>
                  <a:srgbClr val="C2C2C2"/>
                </a:solidFill>
                <a:ea typeface="GyeonggiTitle Light"/>
              </a:rPr>
              <a:t>스포츠조선</a:t>
            </a:r>
            <a:r>
              <a:rPr lang="en-US" sz="2700" b="false" i="false" u="none" strike="noStrike">
                <a:solidFill>
                  <a:srgbClr val="C2C2C2"/>
                </a:solidFill>
                <a:latin typeface="GyeonggiTitle Light"/>
              </a:rPr>
              <a:t>,</a:t>
            </a:r>
            <a:r>
              <a:rPr lang="ko-KR" sz="2700" b="false" i="false" u="none" strike="noStrike">
                <a:solidFill>
                  <a:srgbClr val="C2C2C2"/>
                </a:solidFill>
                <a:ea typeface="GyeonggiTitle Light"/>
              </a:rPr>
              <a:t>프레시안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797800" y="7531100"/>
            <a:ext cx="1041400" cy="787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359900" y="7531100"/>
            <a:ext cx="1041400" cy="787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21800" y="4508500"/>
            <a:ext cx="1041400" cy="787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759700" y="4508500"/>
            <a:ext cx="1041400" cy="787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749300" y="-457200"/>
            <a:ext cx="19786600" cy="295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56000"/>
          </a:blip>
          <a:stretch>
            <a:fillRect/>
          </a:stretch>
        </p:blipFill>
        <p:spPr>
          <a:xfrm rot="-1620000">
            <a:off x="3276600" y="584200"/>
            <a:ext cx="1790700" cy="1270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alphaModFix amt="62000"/>
          </a:blip>
          <a:stretch>
            <a:fillRect/>
          </a:stretch>
        </p:blipFill>
        <p:spPr>
          <a:xfrm rot="1320000">
            <a:off x="2540000" y="215900"/>
            <a:ext cx="825500" cy="82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835900" y="5156200"/>
            <a:ext cx="2527300" cy="2527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7899400" y="6019800"/>
            <a:ext cx="24130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200" b="true" i="false" u="none" strike="noStrike">
                <a:solidFill>
                  <a:srgbClr val="383838"/>
                </a:solidFill>
                <a:ea typeface="GyeonggiTitle Medium"/>
              </a:rPr>
              <a:t>문제점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30200" y="3784600"/>
            <a:ext cx="7035800" cy="2209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62000" y="3416300"/>
            <a:ext cx="6184900" cy="876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30300" y="3556000"/>
            <a:ext cx="5448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200" b="true" i="false" u="none" strike="noStrike">
                <a:solidFill>
                  <a:srgbClr val="383838"/>
                </a:solidFill>
                <a:ea typeface="GyeonggiTitle Medium"/>
              </a:rPr>
              <a:t>정보의</a:t>
            </a:r>
            <a:r>
              <a:rPr lang="en-US" sz="32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3200" b="true" i="false" u="none" strike="noStrike">
                <a:solidFill>
                  <a:srgbClr val="383838"/>
                </a:solidFill>
                <a:ea typeface="GyeonggiTitle Medium"/>
              </a:rPr>
              <a:t>분산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8800" y="4635500"/>
            <a:ext cx="65913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저속노화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관련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정보가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여러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매체에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분산되어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있어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,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필요한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식단과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레시피를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찾기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어렵다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.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833100" y="3784600"/>
            <a:ext cx="7035800" cy="2209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252200" y="3416300"/>
            <a:ext cx="6184900" cy="876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1633200" y="3556000"/>
            <a:ext cx="5448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200" b="true" i="false" u="none" strike="noStrike">
                <a:solidFill>
                  <a:srgbClr val="383838"/>
                </a:solidFill>
                <a:ea typeface="GyeonggiTitle Medium"/>
              </a:rPr>
              <a:t>신뢰도</a:t>
            </a:r>
            <a:r>
              <a:rPr lang="en-US" sz="32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3200" b="true" i="false" u="none" strike="noStrike">
                <a:solidFill>
                  <a:srgbClr val="383838"/>
                </a:solidFill>
                <a:ea typeface="GyeonggiTitle Medium"/>
              </a:rPr>
              <a:t>부족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02900" y="4686300"/>
            <a:ext cx="78105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온라인에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존재하는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식단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정보의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근거가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불명확해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, </a:t>
            </a:r>
          </a:p>
          <a:p>
            <a:pPr algn="ctr" lvl="0">
              <a:lnSpc>
                <a:spcPct val="1328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신뢰할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수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있는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자료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접근이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Light"/>
              </a:rPr>
              <a:t>힘들다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Light"/>
              </a:rPr>
              <a:t>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30200" y="6807200"/>
            <a:ext cx="7035800" cy="2209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62000" y="6438900"/>
            <a:ext cx="6184900" cy="8763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320800" y="6553200"/>
            <a:ext cx="5448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200" b="true" i="false" u="none" strike="noStrike">
                <a:solidFill>
                  <a:srgbClr val="383838"/>
                </a:solidFill>
                <a:ea typeface="GyeonggiTitle Medium"/>
              </a:rPr>
              <a:t>맞춤형</a:t>
            </a:r>
            <a:r>
              <a:rPr lang="en-US" sz="32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3200" b="true" i="false" u="none" strike="noStrike">
                <a:solidFill>
                  <a:srgbClr val="383838"/>
                </a:solidFill>
                <a:ea typeface="GyeonggiTitle Medium"/>
              </a:rPr>
              <a:t>서비스</a:t>
            </a:r>
            <a:r>
              <a:rPr lang="en-US" sz="32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3200" b="true" i="false" u="none" strike="noStrike">
                <a:solidFill>
                  <a:srgbClr val="383838"/>
                </a:solidFill>
                <a:ea typeface="GyeonggiTitle Medium"/>
              </a:rPr>
              <a:t>부재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8800" y="7632700"/>
            <a:ext cx="6591300" cy="1371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개인의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식습관이나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취향을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반영한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맞춤형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레시피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추천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시스템이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부족하다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.</a:t>
            </a:r>
          </a:p>
          <a:p>
            <a:pPr algn="ctr" lvl="0">
              <a:lnSpc>
                <a:spcPct val="132800"/>
              </a:lnSpc>
            </a:pP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/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833100" y="6807200"/>
            <a:ext cx="7035800" cy="2209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252200" y="6438900"/>
            <a:ext cx="6184900" cy="876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alphaModFix amt="65000"/>
          </a:blip>
          <a:stretch>
            <a:fillRect/>
          </a:stretch>
        </p:blipFill>
        <p:spPr>
          <a:xfrm rot="7500000">
            <a:off x="14643100" y="381000"/>
            <a:ext cx="1371600" cy="1358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2040000">
            <a:off x="812800" y="-25400"/>
            <a:ext cx="1498600" cy="21717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1633200" y="6578600"/>
            <a:ext cx="54483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200" b="true" i="false" u="none" strike="noStrike">
                <a:solidFill>
                  <a:srgbClr val="383838"/>
                </a:solidFill>
                <a:ea typeface="GyeonggiTitle Medium"/>
              </a:rPr>
              <a:t>실천의</a:t>
            </a:r>
            <a:r>
              <a:rPr lang="en-US" sz="32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3200" b="true" i="false" u="none" strike="noStrike">
                <a:solidFill>
                  <a:srgbClr val="383838"/>
                </a:solidFill>
                <a:ea typeface="GyeonggiTitle Medium"/>
              </a:rPr>
              <a:t>어려움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61700" y="7632700"/>
            <a:ext cx="6591300" cy="889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바쁜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일상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속에서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저속노화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식단을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꾸준히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132800"/>
              </a:lnSpc>
            </a:pP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관리하고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실천하기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GyeonggiTitle Light"/>
              </a:rPr>
              <a:t>어렵다</a:t>
            </a:r>
            <a:r>
              <a:rPr lang="en-US" sz="2300" b="false" i="false" u="none" strike="noStrike">
                <a:solidFill>
                  <a:srgbClr val="383838"/>
                </a:solidFill>
                <a:latin typeface="GyeonggiTitle Light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5200" y="2159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문제점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2217400" y="6629400"/>
            <a:ext cx="5854700" cy="257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172200" y="6692900"/>
            <a:ext cx="5854700" cy="257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15900" y="6692900"/>
            <a:ext cx="5854700" cy="257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144000" y="3683000"/>
            <a:ext cx="5854700" cy="2578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49300" y="-457200"/>
            <a:ext cx="19786600" cy="3797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46000"/>
          </a:blip>
          <a:stretch>
            <a:fillRect/>
          </a:stretch>
        </p:blipFill>
        <p:spPr>
          <a:xfrm rot="0">
            <a:off x="3556000" y="317500"/>
            <a:ext cx="914400" cy="914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920000">
            <a:off x="14681200" y="254000"/>
            <a:ext cx="1371600" cy="137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040000">
            <a:off x="16065500" y="406400"/>
            <a:ext cx="1435100" cy="2082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alphaModFix amt="78000"/>
          </a:blip>
          <a:stretch>
            <a:fillRect/>
          </a:stretch>
        </p:blipFill>
        <p:spPr>
          <a:xfrm rot="-4080000">
            <a:off x="723900" y="469900"/>
            <a:ext cx="2197100" cy="1955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130300" y="1778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해결방안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36800" y="6870700"/>
            <a:ext cx="3289300" cy="198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3.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나의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식단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기록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기능</a:t>
            </a:r>
          </a:p>
          <a:p>
            <a:pPr algn="ctr" lvl="0">
              <a:lnSpc>
                <a:spcPct val="99600"/>
              </a:lnSpc>
            </a:pPr>
            <a:r>
              <a:rPr lang="en-US" sz="2100" b="true" i="false" u="none" strike="noStrike">
                <a:solidFill>
                  <a:srgbClr val="383838"/>
                </a:solidFill>
                <a:latin typeface="GyeonggiTitle Light"/>
              </a:rPr>
              <a:t/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챗봇을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통해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얻은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레시피를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즐겨찾기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목록으로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저장하고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관리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가능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83500" y="6883400"/>
            <a:ext cx="4178300" cy="165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4.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지속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가능한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식습관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실천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유도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Medium"/>
              </a:rPr>
              <a:t>  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/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맞춤형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정보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제공을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통해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저속노화를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돕고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꾸준한</a:t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식단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관리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습관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형성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46200" y="6794500"/>
            <a:ext cx="3924300" cy="198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5.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커뮤니티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기능</a:t>
            </a:r>
          </a:p>
          <a:p>
            <a:pPr algn="ctr" lvl="0">
              <a:lnSpc>
                <a:spcPct val="99600"/>
              </a:lnSpc>
            </a:pPr>
            <a:r>
              <a:rPr lang="en-US" sz="2100" b="true" i="false" u="none" strike="noStrike">
                <a:solidFill>
                  <a:srgbClr val="383838"/>
                </a:solidFill>
                <a:latin typeface="GyeonggiTitle Light"/>
              </a:rPr>
              <a:t/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사용자들이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식단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후기와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노하우를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공유하며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건강한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식습관을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지속하도록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지원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/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022600" y="3683000"/>
            <a:ext cx="5854700" cy="2578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5346700" y="3962400"/>
            <a:ext cx="3327400" cy="165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1. LLM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기반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챗봇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기능</a:t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383838"/>
                </a:solidFill>
                <a:latin typeface="GyeonggiTitle Medium"/>
              </a:rPr>
              <a:t/>
            </a:r>
          </a:p>
          <a:p>
            <a:pPr algn="ctr" lvl="0">
              <a:lnSpc>
                <a:spcPct val="99600"/>
              </a:lnSpc>
            </a:pPr>
            <a:r>
              <a:rPr lang="en-US" sz="21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사용자가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챗봇과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대화하며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저속노화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식단과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레시피를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손쉽게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추천받을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수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있음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340100" y="4102100"/>
            <a:ext cx="1397000" cy="1231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85800" y="7035800"/>
            <a:ext cx="1231900" cy="1231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464300" y="7035800"/>
            <a:ext cx="1092200" cy="1511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560300" y="7035800"/>
            <a:ext cx="1358900" cy="1397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499600" y="4292600"/>
            <a:ext cx="1460500" cy="1041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400800" y="1739900"/>
            <a:ext cx="5816600" cy="8255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1366500" y="3924300"/>
            <a:ext cx="3416300" cy="165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2.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레시피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탐색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100" b="true" i="false" u="none" strike="noStrike">
                <a:solidFill>
                  <a:srgbClr val="383838"/>
                </a:solidFill>
                <a:ea typeface="GyeonggiTitle Medium"/>
              </a:rPr>
              <a:t>기능</a:t>
            </a:r>
            <a:r>
              <a:rPr lang="en-US" sz="2100" b="true" i="false" u="none" strike="noStrike">
                <a:solidFill>
                  <a:srgbClr val="383838"/>
                </a:solidFill>
                <a:latin typeface="GyeonggiTitle Medium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en-US" sz="2100" b="true" i="false" u="none" strike="noStrike">
                <a:solidFill>
                  <a:srgbClr val="383838"/>
                </a:solidFill>
                <a:latin typeface="GyeonggiTitle Light"/>
              </a:rPr>
              <a:t/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원하는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음식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종류를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선택하면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관련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저속노화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레시피와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영양정보를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한눈에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확인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가능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43700" y="1854200"/>
            <a:ext cx="51308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200" b="true" i="false" u="none" strike="noStrike">
                <a:solidFill>
                  <a:srgbClr val="383838"/>
                </a:solidFill>
                <a:ea typeface="GyeonggiTitle Medium"/>
              </a:rPr>
              <a:t>웹사이트</a:t>
            </a:r>
            <a:r>
              <a:rPr lang="en-US" sz="3200" b="tru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3200" b="true" i="false" u="none" strike="noStrike">
                <a:solidFill>
                  <a:srgbClr val="383838"/>
                </a:solidFill>
                <a:ea typeface="GyeonggiTitle Medium"/>
              </a:rPr>
              <a:t>구현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49300" y="-457200"/>
            <a:ext cx="19786600" cy="3111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46000"/>
          </a:blip>
          <a:stretch>
            <a:fillRect/>
          </a:stretch>
        </p:blipFill>
        <p:spPr>
          <a:xfrm rot="0">
            <a:off x="3556000" y="317500"/>
            <a:ext cx="914400" cy="914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920000">
            <a:off x="14681200" y="254000"/>
            <a:ext cx="1371600" cy="1371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040000">
            <a:off x="16065500" y="406400"/>
            <a:ext cx="1435100" cy="208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78000"/>
          </a:blip>
          <a:stretch>
            <a:fillRect/>
          </a:stretch>
        </p:blipFill>
        <p:spPr>
          <a:xfrm rot="-4080000">
            <a:off x="723900" y="469900"/>
            <a:ext cx="2197100" cy="195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842000" y="3289300"/>
            <a:ext cx="6540500" cy="61722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65200" y="4572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개발환경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77000" y="4648200"/>
            <a:ext cx="4978400" cy="445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 indent="-342900" marL="342900">
              <a:lnSpc>
                <a:spcPct val="8964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GyeonggiTitle Light"/>
              </a:rPr>
              <a:t>Python </a:t>
            </a:r>
          </a:p>
          <a:p>
            <a:pPr algn="ctr" lvl="1">
              <a:lnSpc>
                <a:spcPct val="8964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ctr" lvl="0" indent="-342900" marL="342900">
              <a:lnSpc>
                <a:spcPct val="8964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GyeonggiTitle Light"/>
              </a:rPr>
              <a:t>Flask</a:t>
            </a:r>
          </a:p>
          <a:p>
            <a:pPr algn="ctr" lvl="1">
              <a:lnSpc>
                <a:spcPct val="8964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ctr" lvl="0" indent="-342900" marL="342900">
              <a:lnSpc>
                <a:spcPct val="8964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GyeonggiTitle Light"/>
              </a:rPr>
              <a:t>SQLite</a:t>
            </a:r>
          </a:p>
          <a:p>
            <a:pPr algn="ctr" lvl="1">
              <a:lnSpc>
                <a:spcPct val="8964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ctr" lvl="0" indent="-342900" marL="342900">
              <a:lnSpc>
                <a:spcPct val="8964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GyeonggiTitle Light"/>
              </a:rPr>
              <a:t>HTML / CSS / JavaScript</a:t>
            </a:r>
          </a:p>
          <a:p>
            <a:pPr algn="ctr" lvl="1">
              <a:lnSpc>
                <a:spcPct val="8964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GyeonggiTitle Light"/>
              </a:rPr>
              <a:t/>
            </a:r>
          </a:p>
          <a:p>
            <a:pPr algn="ctr" lvl="0" indent="-342900" marL="342900">
              <a:lnSpc>
                <a:spcPct val="89640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false" i="false" u="none" strike="noStrike">
                <a:solidFill>
                  <a:srgbClr val="000000"/>
                </a:solidFill>
                <a:latin typeface="GyeonggiTitle Light"/>
              </a:rPr>
              <a:t>VS Code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43900" y="3009900"/>
            <a:ext cx="16764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400" b="false" i="false" u="none" strike="noStrike">
                <a:solidFill>
                  <a:srgbClr val="000000"/>
                </a:solidFill>
                <a:ea typeface="GyeonggiTitle Medium"/>
              </a:rPr>
              <a:t>개발환경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49300" y="-457200"/>
            <a:ext cx="19786600" cy="2781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3180000">
            <a:off x="12471400" y="88900"/>
            <a:ext cx="19177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4800000">
            <a:off x="14439900" y="88900"/>
            <a:ext cx="1752600" cy="1752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-355600"/>
            <a:ext cx="1765300" cy="1765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17500" y="5143500"/>
            <a:ext cx="3810000" cy="132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43500" y="3302000"/>
            <a:ext cx="3810000" cy="1320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65200" y="1397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구성</a:t>
            </a:r>
            <a:r>
              <a:rPr lang="en-US" sz="68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및</a:t>
            </a:r>
            <a:r>
              <a:rPr lang="en-US" sz="68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기능</a:t>
            </a:r>
            <a:r>
              <a:rPr lang="en-US" sz="6800" b="false" i="false" u="none" strike="noStrike">
                <a:solidFill>
                  <a:srgbClr val="383838"/>
                </a:solidFill>
                <a:latin typeface="GyeonggiTitle Medium"/>
              </a:rPr>
              <a:t> 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43500" y="7023100"/>
            <a:ext cx="3810000" cy="132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3180000">
            <a:off x="2514600" y="368300"/>
            <a:ext cx="1206500" cy="130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43500" y="5143500"/>
            <a:ext cx="3810000" cy="1320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749800" y="3962400"/>
            <a:ext cx="393700" cy="76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749800" y="5626100"/>
            <a:ext cx="393700" cy="76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749800" y="7607300"/>
            <a:ext cx="393700" cy="76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2933700" y="5791200"/>
            <a:ext cx="3746500" cy="88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127500" y="5626100"/>
            <a:ext cx="812800" cy="76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525000" y="4267200"/>
            <a:ext cx="83693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525000" y="6184900"/>
            <a:ext cx="83693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525000" y="8026400"/>
            <a:ext cx="8369300" cy="139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927100" y="5511800"/>
            <a:ext cx="38481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500" b="false" i="false" u="none" strike="noStrike">
                <a:solidFill>
                  <a:srgbClr val="000000"/>
                </a:solidFill>
                <a:ea typeface="GyeonggiTitle Medium"/>
              </a:rPr>
              <a:t>메인</a:t>
            </a:r>
            <a:r>
              <a:rPr lang="en-US" sz="3500" b="false" i="false" u="none" strike="noStrike">
                <a:solidFill>
                  <a:srgbClr val="000000"/>
                </a:solidFill>
                <a:latin typeface="GyeonggiTitle Medium"/>
              </a:rPr>
              <a:t> </a:t>
            </a:r>
            <a:r>
              <a:rPr lang="ko-KR" sz="3500" b="false" i="false" u="none" strike="noStrike">
                <a:solidFill>
                  <a:srgbClr val="000000"/>
                </a:solidFill>
                <a:ea typeface="GyeonggiTitle Medium"/>
              </a:rPr>
              <a:t>화면</a:t>
            </a:r>
            <a:r>
              <a:rPr lang="en-US" sz="3500" b="false" i="false" u="none" strike="noStrike">
                <a:solidFill>
                  <a:srgbClr val="000000"/>
                </a:solidFill>
                <a:latin typeface="GyeonggiTitle Medium"/>
              </a:rPr>
              <a:t> (</a:t>
            </a:r>
            <a:r>
              <a:rPr lang="ko-KR" sz="3500" b="false" i="false" u="none" strike="noStrike">
                <a:solidFill>
                  <a:srgbClr val="000000"/>
                </a:solidFill>
                <a:ea typeface="GyeonggiTitle Medium"/>
              </a:rPr>
              <a:t>홈</a:t>
            </a:r>
            <a:r>
              <a:rPr lang="en-US" sz="3500" b="false" i="false" u="none" strike="noStrike">
                <a:solidFill>
                  <a:srgbClr val="000000"/>
                </a:solidFill>
                <a:latin typeface="GyeonggiTitle Medium"/>
              </a:rPr>
              <a:t>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21400" y="3670300"/>
            <a:ext cx="19939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500" b="false" i="false" u="none" strike="noStrike">
                <a:solidFill>
                  <a:srgbClr val="000000"/>
                </a:solidFill>
                <a:ea typeface="GyeonggiTitle Medium"/>
              </a:rPr>
              <a:t>챗봇</a:t>
            </a:r>
            <a:r>
              <a:rPr lang="en-US" sz="3500" b="false" i="false" u="none" strike="noStrike">
                <a:solidFill>
                  <a:srgbClr val="000000"/>
                </a:solidFill>
                <a:latin typeface="GyeonggiTitle Medium"/>
              </a:rPr>
              <a:t> </a:t>
            </a:r>
            <a:r>
              <a:rPr lang="ko-KR" sz="3500" b="false" i="false" u="none" strike="noStrike">
                <a:solidFill>
                  <a:srgbClr val="000000"/>
                </a:solidFill>
                <a:ea typeface="GyeonggiTitle Medium"/>
              </a:rPr>
              <a:t>화면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40400" y="5524500"/>
            <a:ext cx="2870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500" b="false" i="false" u="none" strike="noStrike">
                <a:solidFill>
                  <a:srgbClr val="000000"/>
                </a:solidFill>
                <a:ea typeface="GyeonggiTitle Medium"/>
              </a:rPr>
              <a:t>식단</a:t>
            </a:r>
            <a:r>
              <a:rPr lang="en-US" sz="3500" b="false" i="false" u="none" strike="noStrike">
                <a:solidFill>
                  <a:srgbClr val="000000"/>
                </a:solidFill>
                <a:latin typeface="GyeonggiTitle Medium"/>
              </a:rPr>
              <a:t> </a:t>
            </a:r>
            <a:r>
              <a:rPr lang="ko-KR" sz="3500" b="false" i="false" u="none" strike="noStrike">
                <a:solidFill>
                  <a:srgbClr val="000000"/>
                </a:solidFill>
                <a:ea typeface="GyeonggiTitle Medium"/>
              </a:rPr>
              <a:t>기록</a:t>
            </a:r>
            <a:r>
              <a:rPr lang="en-US" sz="3500" b="false" i="false" u="none" strike="noStrike">
                <a:solidFill>
                  <a:srgbClr val="000000"/>
                </a:solidFill>
                <a:latin typeface="GyeonggiTitle Medium"/>
              </a:rPr>
              <a:t> </a:t>
            </a:r>
            <a:r>
              <a:rPr lang="ko-KR" sz="3500" b="false" i="false" u="none" strike="noStrike">
                <a:solidFill>
                  <a:srgbClr val="000000"/>
                </a:solidFill>
                <a:ea typeface="GyeonggiTitle Medium"/>
              </a:rPr>
              <a:t>화면</a:t>
            </a:r>
            <a:r>
              <a:rPr lang="en-US" sz="3500" b="false" i="false" u="none" strike="noStrike">
                <a:solidFill>
                  <a:srgbClr val="000000"/>
                </a:solidFill>
                <a:latin typeface="GyeonggiTitle Medium"/>
              </a:rPr>
              <a:t> 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03900" y="7391400"/>
            <a:ext cx="2819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500" b="false" i="false" u="none" strike="noStrike">
                <a:solidFill>
                  <a:srgbClr val="000000"/>
                </a:solidFill>
                <a:ea typeface="GyeonggiTitle Medium"/>
              </a:rPr>
              <a:t>커뮤니티</a:t>
            </a:r>
            <a:r>
              <a:rPr lang="en-US" sz="3500" b="false" i="false" u="none" strike="noStrike">
                <a:solidFill>
                  <a:srgbClr val="000000"/>
                </a:solidFill>
                <a:latin typeface="GyeonggiTitle Medium"/>
              </a:rPr>
              <a:t> </a:t>
            </a:r>
            <a:r>
              <a:rPr lang="ko-KR" sz="3500" b="false" i="false" u="none" strike="noStrike">
                <a:solidFill>
                  <a:srgbClr val="000000"/>
                </a:solidFill>
                <a:ea typeface="GyeonggiTitle Medium"/>
              </a:rPr>
              <a:t>화면</a:t>
            </a:r>
            <a:r>
              <a:rPr lang="en-US" sz="3500" b="false" i="false" u="none" strike="noStrike">
                <a:solidFill>
                  <a:srgbClr val="000000"/>
                </a:solidFill>
                <a:latin typeface="GyeonggiTitle Medium"/>
              </a:rPr>
              <a:t> 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12300" y="3708400"/>
            <a:ext cx="8851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챗봇과의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대화를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통한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저속노화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식단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레시피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제공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 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12300" y="5549900"/>
            <a:ext cx="8851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사용자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맞춤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레시피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즐겨찾기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목록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제공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12300" y="7442200"/>
            <a:ext cx="8851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챗봇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관련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문의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및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건의사항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/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레시피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후기</a:t>
            </a:r>
            <a:r>
              <a:rPr lang="en-US" sz="3000" b="false" i="false" u="none" strike="noStrike">
                <a:solidFill>
                  <a:srgbClr val="000000"/>
                </a:solidFill>
                <a:latin typeface="GyeonggiTitle Light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GyeonggiTitle Light"/>
              </a:rPr>
              <a:t>작성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49300" y="-457200"/>
            <a:ext cx="19786600" cy="2781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3180000">
            <a:off x="12471400" y="88900"/>
            <a:ext cx="19177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4800000">
            <a:off x="14439900" y="88900"/>
            <a:ext cx="1752600" cy="1752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-355600"/>
            <a:ext cx="1765300" cy="1765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65200" y="1397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구성</a:t>
            </a:r>
            <a:r>
              <a:rPr lang="en-US" sz="68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및</a:t>
            </a:r>
            <a:r>
              <a:rPr lang="en-US" sz="68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기능</a:t>
            </a:r>
            <a:r>
              <a:rPr lang="en-US" sz="6800" b="false" i="false" u="none" strike="noStrike">
                <a:solidFill>
                  <a:srgbClr val="383838"/>
                </a:solidFill>
                <a:latin typeface="GyeonggiTitle Medium"/>
              </a:rPr>
              <a:t> 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3180000">
            <a:off x="2514600" y="368300"/>
            <a:ext cx="1206500" cy="130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717800" y="2743200"/>
            <a:ext cx="12865100" cy="669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785100" y="5080000"/>
            <a:ext cx="33655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785100" y="5143500"/>
            <a:ext cx="33909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772400" y="6146800"/>
            <a:ext cx="65913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785100" y="6223000"/>
            <a:ext cx="6578600" cy="12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997700" y="1739900"/>
            <a:ext cx="77089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200" b="false" i="false" u="none" strike="noStrike">
                <a:solidFill>
                  <a:srgbClr val="000000"/>
                </a:solidFill>
                <a:highlight>
                  <a:srgbClr val="CCD2F0"/>
                </a:highlight>
                <a:ea typeface="GyeonggiTitle Medium"/>
              </a:rPr>
              <a:t>시퀀스</a:t>
            </a:r>
            <a:r>
              <a:rPr lang="en-US" sz="4200" b="false" i="false" u="none" strike="noStrike">
                <a:solidFill>
                  <a:srgbClr val="000000"/>
                </a:solidFill>
                <a:highlight>
                  <a:srgbClr val="CCD2F0"/>
                </a:highlight>
                <a:latin typeface="GyeonggiTitle Medium"/>
              </a:rPr>
              <a:t> </a:t>
            </a:r>
            <a:r>
              <a:rPr lang="ko-KR" sz="4200" b="false" i="false" u="none" strike="noStrike">
                <a:solidFill>
                  <a:srgbClr val="000000"/>
                </a:solidFill>
                <a:highlight>
                  <a:srgbClr val="CCD2F0"/>
                </a:highlight>
                <a:ea typeface="GyeonggiTitle Medium"/>
              </a:rPr>
              <a:t>다이어그램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22500" y="3111500"/>
            <a:ext cx="13157200" cy="6045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49300" y="-457200"/>
            <a:ext cx="19786600" cy="2527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3180000">
            <a:off x="12471400" y="88900"/>
            <a:ext cx="1917700" cy="1917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4800000">
            <a:off x="14439900" y="88900"/>
            <a:ext cx="1752600" cy="175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90600" y="-355600"/>
            <a:ext cx="1765300" cy="1765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65200" y="1397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실행결과</a:t>
            </a:r>
            <a:r>
              <a:rPr lang="en-US" sz="6800" b="false" i="false" u="none" strike="noStrike">
                <a:solidFill>
                  <a:srgbClr val="383838"/>
                </a:solidFill>
                <a:latin typeface="GyeonggiTitle Medium"/>
              </a:rPr>
              <a:t> 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3180000">
            <a:off x="2514600" y="368300"/>
            <a:ext cx="1206500" cy="1308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209800" y="2413000"/>
            <a:ext cx="25273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500" b="false" i="false" u="none" strike="noStrike">
                <a:solidFill>
                  <a:srgbClr val="787878"/>
                </a:solidFill>
                <a:ea typeface="GyeonggiTitle Medium"/>
              </a:rPr>
              <a:t>메인화면</a:t>
            </a:r>
            <a:r>
              <a:rPr lang="en-US" sz="3500" b="false" i="false" u="none" strike="noStrike">
                <a:solidFill>
                  <a:srgbClr val="787878"/>
                </a:solidFill>
                <a:latin typeface="GyeonggiTitle Medium"/>
              </a:rPr>
              <a:t> (</a:t>
            </a:r>
            <a:r>
              <a:rPr lang="ko-KR" sz="3500" b="false" i="false" u="none" strike="noStrike">
                <a:solidFill>
                  <a:srgbClr val="787878"/>
                </a:solidFill>
                <a:ea typeface="GyeonggiTitle Medium"/>
              </a:rPr>
              <a:t>홈</a:t>
            </a:r>
            <a:r>
              <a:rPr lang="en-US" sz="3500" b="false" i="false" u="none" strike="noStrike">
                <a:solidFill>
                  <a:srgbClr val="787878"/>
                </a:solidFill>
                <a:latin typeface="GyeonggiTitle Medium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49300" y="-457200"/>
            <a:ext cx="19786600" cy="2438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3180000">
            <a:off x="12471400" y="88900"/>
            <a:ext cx="1917700" cy="191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4800000">
            <a:off x="14439900" y="88900"/>
            <a:ext cx="1752600" cy="1752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0600" y="-355600"/>
            <a:ext cx="1765300" cy="1765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65200" y="1397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실행결과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3180000">
            <a:off x="2514600" y="368300"/>
            <a:ext cx="1206500" cy="1308100"/>
          </a:xfrm>
          <a:prstGeom prst="rect">
            <a:avLst/>
          </a:prstGeom>
        </p:spPr>
      </p:pic>
      <p:pic>
        <p:nvPicPr>
          <p:cNvPr name="Picture 9" id="9">
            <a:hlinkClick r:id="" action="ppaction://media"/>
          </p:cNvPr>
          <p:cNvPicPr>
            <a:picLocks noChangeAspect="true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>
                  <p14:trim st="0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 rot="0">
            <a:off x="2921000" y="2463800"/>
            <a:ext cx="12115800" cy="75692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921000" y="1790700"/>
            <a:ext cx="19939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500" b="false" i="false" u="none" strike="noStrike">
                <a:solidFill>
                  <a:srgbClr val="787878"/>
                </a:solidFill>
                <a:ea typeface="GyeonggiTitle Medium"/>
              </a:rPr>
              <a:t>챗봇</a:t>
            </a:r>
            <a:r>
              <a:rPr lang="en-US" sz="3500" b="false" i="false" u="none" strike="noStrike">
                <a:solidFill>
                  <a:srgbClr val="787878"/>
                </a:solidFill>
                <a:latin typeface="GyeonggiTitle Medium"/>
              </a:rPr>
              <a:t> </a:t>
            </a:r>
            <a:r>
              <a:rPr lang="ko-KR" sz="3500" b="false" i="false" u="none" strike="noStrike">
                <a:solidFill>
                  <a:srgbClr val="787878"/>
                </a:solidFill>
                <a:ea typeface="GyeonggiTitle Medium"/>
              </a:rPr>
              <a:t>화면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8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0200" y="2425700"/>
            <a:ext cx="13881100" cy="7086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26500" y="5156200"/>
            <a:ext cx="9207500" cy="487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749300" y="-457200"/>
            <a:ext cx="19786600" cy="2362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3180000">
            <a:off x="12471400" y="88900"/>
            <a:ext cx="1917700" cy="1917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4800000">
            <a:off x="14439900" y="88900"/>
            <a:ext cx="1752600" cy="1752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90600" y="-355600"/>
            <a:ext cx="1765300" cy="1765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65200" y="1397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실행결과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3180000">
            <a:off x="2514600" y="368300"/>
            <a:ext cx="1206500" cy="1308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30200" y="1828800"/>
            <a:ext cx="28702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500" b="false" i="false" u="none" strike="noStrike">
                <a:solidFill>
                  <a:srgbClr val="787878"/>
                </a:solidFill>
                <a:ea typeface="GyeonggiTitle Medium"/>
              </a:rPr>
              <a:t>식단</a:t>
            </a:r>
            <a:r>
              <a:rPr lang="en-US" sz="3500" b="false" i="false" u="none" strike="noStrike">
                <a:solidFill>
                  <a:srgbClr val="787878"/>
                </a:solidFill>
                <a:latin typeface="GyeonggiTitle Medium"/>
              </a:rPr>
              <a:t> </a:t>
            </a:r>
            <a:r>
              <a:rPr lang="ko-KR" sz="3500" b="false" i="false" u="none" strike="noStrike">
                <a:solidFill>
                  <a:srgbClr val="787878"/>
                </a:solidFill>
                <a:ea typeface="GyeonggiTitle Medium"/>
              </a:rPr>
              <a:t>기록</a:t>
            </a:r>
            <a:r>
              <a:rPr lang="en-US" sz="3500" b="false" i="false" u="none" strike="noStrike">
                <a:solidFill>
                  <a:srgbClr val="787878"/>
                </a:solidFill>
                <a:latin typeface="GyeonggiTitle Medium"/>
              </a:rPr>
              <a:t> </a:t>
            </a:r>
            <a:r>
              <a:rPr lang="ko-KR" sz="3500" b="false" i="false" u="none" strike="noStrike">
                <a:solidFill>
                  <a:srgbClr val="787878"/>
                </a:solidFill>
                <a:ea typeface="GyeonggiTitle Medium"/>
              </a:rPr>
              <a:t>화면</a:t>
            </a:r>
            <a:r>
              <a:rPr lang="en-US" sz="3500" b="false" i="false" u="none" strike="noStrike">
                <a:solidFill>
                  <a:srgbClr val="787878"/>
                </a:solidFill>
                <a:latin typeface="GyeonggiTitle Medium"/>
              </a:rPr>
              <a:t> 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11500" y="2209800"/>
            <a:ext cx="11023600" cy="7912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49300" y="-457200"/>
            <a:ext cx="19786600" cy="2362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3180000">
            <a:off x="12471400" y="88900"/>
            <a:ext cx="1917700" cy="1917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4800000">
            <a:off x="14439900" y="88900"/>
            <a:ext cx="1752600" cy="1752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90600" y="-355600"/>
            <a:ext cx="1765300" cy="1765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00100" y="139700"/>
            <a:ext cx="163449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800" b="false" i="false" u="none" strike="noStrike">
                <a:solidFill>
                  <a:srgbClr val="383838"/>
                </a:solidFill>
                <a:ea typeface="GyeonggiTitle Medium"/>
              </a:rPr>
              <a:t>실행결과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3180000">
            <a:off x="2514600" y="368300"/>
            <a:ext cx="1206500" cy="1308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111500" y="1612900"/>
            <a:ext cx="28194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3500" b="false" i="false" u="none" strike="noStrike">
                <a:solidFill>
                  <a:srgbClr val="787878"/>
                </a:solidFill>
                <a:ea typeface="GyeonggiTitle Medium"/>
              </a:rPr>
              <a:t>커뮤니티</a:t>
            </a:r>
            <a:r>
              <a:rPr lang="en-US" sz="3500" b="false" i="false" u="none" strike="noStrike">
                <a:solidFill>
                  <a:srgbClr val="787878"/>
                </a:solidFill>
                <a:latin typeface="GyeonggiTitle Medium"/>
              </a:rPr>
              <a:t> </a:t>
            </a:r>
            <a:r>
              <a:rPr lang="ko-KR" sz="3500" b="false" i="false" u="none" strike="noStrike">
                <a:solidFill>
                  <a:srgbClr val="787878"/>
                </a:solidFill>
                <a:ea typeface="GyeonggiTitle Medium"/>
              </a:rPr>
              <a:t>화면</a:t>
            </a:r>
            <a:r>
              <a:rPr lang="en-US" sz="3500" b="false" i="false" u="none" strike="noStrike">
                <a:solidFill>
                  <a:srgbClr val="787878"/>
                </a:solidFill>
                <a:latin typeface="GyeonggiTitle Medium"/>
              </a:rPr>
              <a:t> 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5400" y="-533400"/>
            <a:ext cx="19786600" cy="2730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3327400"/>
            <a:ext cx="7848600" cy="265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3632200"/>
            <a:ext cx="2057400" cy="2057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02100" y="3721100"/>
            <a:ext cx="4457700" cy="635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318000" y="3848100"/>
            <a:ext cx="4038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개인의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맞춤형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건강관리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실현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22700" y="4470400"/>
            <a:ext cx="4762500" cy="1130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 indent="-342900" marL="342900">
              <a:lnSpc>
                <a:spcPct val="116199"/>
              </a:lnSpc>
              <a:buClr>
                <a:srgbClr val="383838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사용자의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선호와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식습관에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맞는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저속노화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식단을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제공하여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개인화된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건강관리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가능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296400" y="3327400"/>
            <a:ext cx="7848600" cy="265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39300" y="3632200"/>
            <a:ext cx="2057400" cy="2057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001500" y="3721100"/>
            <a:ext cx="4699000" cy="635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2166600" y="3835400"/>
            <a:ext cx="45339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건강수명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연장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및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사회적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가치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창출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90400" y="4660900"/>
            <a:ext cx="47625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 indent="-342900" marL="342900">
              <a:lnSpc>
                <a:spcPct val="116199"/>
              </a:lnSpc>
              <a:buClr>
                <a:srgbClr val="383838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저속노화를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통한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질병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예방과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의료비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절감</a:t>
            </a:r>
          </a:p>
          <a:p>
            <a:pPr algn="ctr" lvl="0" indent="-342900" marL="342900">
              <a:lnSpc>
                <a:spcPct val="116199"/>
              </a:lnSpc>
              <a:buClr>
                <a:srgbClr val="383838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삶의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질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향상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기대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6273800"/>
            <a:ext cx="7848600" cy="2654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85900" y="6578600"/>
            <a:ext cx="2057400" cy="2057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114800" y="6667500"/>
            <a:ext cx="4445000" cy="6350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4292600" y="6781800"/>
            <a:ext cx="41148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저속노화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식습관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실천율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향상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 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22700" y="7569200"/>
            <a:ext cx="47625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 indent="-342900" marL="342900">
              <a:lnSpc>
                <a:spcPct val="116199"/>
              </a:lnSpc>
              <a:buClr>
                <a:srgbClr val="383838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흩어진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정보를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한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곳에서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쉽게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탐색하고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활용하며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실천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접근성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향상함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296400" y="6273800"/>
            <a:ext cx="7848600" cy="2654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639300" y="6578600"/>
            <a:ext cx="2057400" cy="2057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001500" y="6654800"/>
            <a:ext cx="4724400" cy="635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alphaModFix amt="44000"/>
          </a:blip>
          <a:stretch>
            <a:fillRect/>
          </a:stretch>
        </p:blipFill>
        <p:spPr>
          <a:xfrm rot="-2520000">
            <a:off x="12217400" y="-292100"/>
            <a:ext cx="2324100" cy="2311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4800000">
            <a:off x="2540000" y="12700"/>
            <a:ext cx="1752600" cy="1752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-19800000">
            <a:off x="4229100" y="203200"/>
            <a:ext cx="1409700" cy="14097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2522200" y="6756400"/>
            <a:ext cx="3911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과학적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근거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기반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식습관</a:t>
            </a:r>
            <a:r>
              <a:rPr lang="en-US" sz="2200" b="false" i="false" u="none" strike="noStrike">
                <a:solidFill>
                  <a:srgbClr val="383838"/>
                </a:solidFill>
                <a:latin typeface="GyeonggiTitle Medium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GyeonggiTitle Medium"/>
              </a:rPr>
              <a:t>형성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90400" y="7594600"/>
            <a:ext cx="47625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 indent="-342900" marL="342900">
              <a:lnSpc>
                <a:spcPct val="116199"/>
              </a:lnSpc>
              <a:buClr>
                <a:srgbClr val="383838"/>
              </a:buClr>
              <a:buFont typeface="Arial"/>
              <a:buChar char="●"/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각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식재료의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영양성분을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함께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제공하여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 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올바른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식습관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형성</a:t>
            </a:r>
            <a:r>
              <a:rPr lang="en-US" sz="2100" b="false" i="false" u="none" strike="noStrike">
                <a:solidFill>
                  <a:srgbClr val="383838"/>
                </a:solidFill>
                <a:latin typeface="GyeonggiTitle Light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GyeonggiTitle Light"/>
              </a:rPr>
              <a:t>지원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15200" y="457200"/>
            <a:ext cx="4406900" cy="1143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500" b="false" i="false" u="none" strike="noStrike">
                <a:solidFill>
                  <a:srgbClr val="000000"/>
                </a:solidFill>
                <a:ea typeface="GyeonggiTitle Medium"/>
              </a:rPr>
              <a:t>기대효과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5400" y="-533400"/>
            <a:ext cx="19786600" cy="355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44000"/>
          </a:blip>
          <a:stretch>
            <a:fillRect/>
          </a:stretch>
        </p:blipFill>
        <p:spPr>
          <a:xfrm rot="-2520000">
            <a:off x="12217400" y="-292100"/>
            <a:ext cx="2324100" cy="2311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4800000">
            <a:off x="2540000" y="12700"/>
            <a:ext cx="1752600" cy="1752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19800000">
            <a:off x="4229100" y="203200"/>
            <a:ext cx="14097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02100" y="3022600"/>
            <a:ext cx="9893300" cy="6896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5549900" y="190500"/>
            <a:ext cx="7010400" cy="219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6200" b="false" i="false" u="none" strike="noStrike">
                <a:solidFill>
                  <a:srgbClr val="000000"/>
                </a:solidFill>
                <a:ea typeface="GyeonggiTitle Medium"/>
              </a:rPr>
              <a:t>한국</a:t>
            </a:r>
            <a:r>
              <a:rPr lang="en-US" sz="6200" b="false" i="false" u="none" strike="noStrike">
                <a:solidFill>
                  <a:srgbClr val="000000"/>
                </a:solidFill>
                <a:latin typeface="GyeonggiTitle Medium"/>
              </a:rPr>
              <a:t>IT</a:t>
            </a:r>
            <a:r>
              <a:rPr lang="ko-KR" sz="6200" b="false" i="false" u="none" strike="noStrike">
                <a:solidFill>
                  <a:srgbClr val="000000"/>
                </a:solidFill>
                <a:ea typeface="GyeonggiTitle Medium"/>
              </a:rPr>
              <a:t>서비스학회</a:t>
            </a:r>
            <a:r>
              <a:rPr lang="en-US" sz="6200" b="false" i="false" u="none" strike="noStrike">
                <a:solidFill>
                  <a:srgbClr val="000000"/>
                </a:solidFill>
                <a:latin typeface="GyeonggiTitle Medium"/>
              </a:rPr>
              <a:t> 2025 </a:t>
            </a:r>
            <a:r>
              <a:rPr lang="ko-KR" sz="6200" b="false" i="false" u="none" strike="noStrike">
                <a:solidFill>
                  <a:srgbClr val="000000"/>
                </a:solidFill>
                <a:ea typeface="GyeonggiTitle Medium"/>
              </a:rPr>
              <a:t>추계학술대회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850900" y="0"/>
            <a:ext cx="19786600" cy="132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14400" y="3111500"/>
            <a:ext cx="15963900" cy="5245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60700" y="1079500"/>
            <a:ext cx="4445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746500" y="6654800"/>
            <a:ext cx="10795000" cy="33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749300" y="8966200"/>
            <a:ext cx="19786600" cy="132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3180000">
            <a:off x="3606800" y="609600"/>
            <a:ext cx="2501900" cy="2501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77000"/>
          </a:blip>
          <a:stretch>
            <a:fillRect/>
          </a:stretch>
        </p:blipFill>
        <p:spPr>
          <a:xfrm rot="-2160000">
            <a:off x="14732000" y="5499100"/>
            <a:ext cx="2628900" cy="2628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3600000">
            <a:off x="13055600" y="317500"/>
            <a:ext cx="2641600" cy="264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-1980000">
            <a:off x="1168400" y="4953000"/>
            <a:ext cx="1892300" cy="2489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020000">
            <a:off x="850900" y="7188200"/>
            <a:ext cx="1295400" cy="129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480000">
            <a:off x="1651000" y="4406900"/>
            <a:ext cx="1371600" cy="711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29000"/>
          </a:blip>
          <a:stretch>
            <a:fillRect/>
          </a:stretch>
        </p:blipFill>
        <p:spPr>
          <a:xfrm rot="0">
            <a:off x="15506700" y="1066800"/>
            <a:ext cx="533400" cy="533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294100" y="5080000"/>
            <a:ext cx="533400" cy="533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2794000" y="2070100"/>
            <a:ext cx="533400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On-screen Show (4:3)</ep:PresentationFormat>
  <ep:Paragraphs>0</ep:Paragraphs>
  <ep:Slides>16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hera7</cp:lastModifiedBy>
  <dcterms:modified xsi:type="dcterms:W3CDTF">2025-11-20T14:51:39.155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