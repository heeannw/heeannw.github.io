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24384000" cy="13716000"/>
  <p:notesSz cx="6858000" cy="9144000"/>
  <p:embeddedFontLst>
    <p:embeddedFont>
      <p:font typeface="Gmarket Sans Bold"/>
      <p:bold r:id="rId13"/>
    </p:embeddedFont>
    <p:embeddedFont>
      <p:font typeface="Gmarket Sans Medium"/>
      <p:regular r:id="rId14"/>
    </p:embeddedFont>
    <p:embeddedFont>
      <p:font typeface="Pretendard Regular"/>
      <p:regular r:id="rId15"/>
    </p:embeddedFont>
    <p:embeddedFont>
      <p:font typeface="Pretendard Medium"/>
      <p:bold r:id="rId16"/>
    </p:embeddedFont>
    <p:embeddedFont>
      <p:font typeface="Pretendard Light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.fntdata" Type="http://schemas.openxmlformats.org/officeDocument/2006/relationships/font"/><Relationship Id="rId14" Target="fonts/font2.fntdata" Type="http://schemas.openxmlformats.org/officeDocument/2006/relationships/font"/><Relationship Id="rId15" Target="fonts/font3.fntdata" Type="http://schemas.openxmlformats.org/officeDocument/2006/relationships/font"/><Relationship Id="rId16" Target="fonts/font4.fntdata" Type="http://schemas.openxmlformats.org/officeDocument/2006/relationships/font"/><Relationship Id="rId17" Target="fonts/font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13" Target="../media/image19.png" Type="http://schemas.openxmlformats.org/officeDocument/2006/relationships/image"/><Relationship Id="rId14" Target="../media/image20.png" Type="http://schemas.openxmlformats.org/officeDocument/2006/relationships/image"/><Relationship Id="rId15" Target="../media/image21.png" Type="http://schemas.openxmlformats.org/officeDocument/2006/relationships/image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3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png" Type="http://schemas.openxmlformats.org/officeDocument/2006/relationships/image"/><Relationship Id="rId12" Target="../media/image30.png" Type="http://schemas.openxmlformats.org/officeDocument/2006/relationships/image"/><Relationship Id="rId13" Target="../media/image31.png" Type="http://schemas.openxmlformats.org/officeDocument/2006/relationships/image"/><Relationship Id="rId14" Target="../media/image32.png" Type="http://schemas.openxmlformats.org/officeDocument/2006/relationships/image"/><Relationship Id="rId15" Target="../media/image33.png" Type="http://schemas.openxmlformats.org/officeDocument/2006/relationships/image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7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12" Target="../media/image38.png" Type="http://schemas.openxmlformats.org/officeDocument/2006/relationships/image"/><Relationship Id="rId13" Target="../media/image39.png" Type="http://schemas.openxmlformats.org/officeDocument/2006/relationships/image"/><Relationship Id="rId14" Target="../media/image40.png" Type="http://schemas.openxmlformats.org/officeDocument/2006/relationships/image"/><Relationship Id="rId15" Target="../media/image41.png" Type="http://schemas.openxmlformats.org/officeDocument/2006/relationships/image"/><Relationship Id="rId16" Target="../media/image42.png" Type="http://schemas.openxmlformats.org/officeDocument/2006/relationships/image"/><Relationship Id="rId2" Target="../media/image1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34.png" Type="http://schemas.openxmlformats.org/officeDocument/2006/relationships/image"/><Relationship Id="rId6" Target="../media/image14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2" Target="../media/image43.png" Type="http://schemas.openxmlformats.org/officeDocument/2006/relationships/image"/><Relationship Id="rId3" Target="../media/image44.png" Type="http://schemas.openxmlformats.org/officeDocument/2006/relationships/image"/><Relationship Id="rId4" Target="../media/image3.png" Type="http://schemas.openxmlformats.org/officeDocument/2006/relationships/image"/><Relationship Id="rId5" Target="../media/image13.png" Type="http://schemas.openxmlformats.org/officeDocument/2006/relationships/image"/><Relationship Id="rId6" Target="../media/image4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png" Type="http://schemas.openxmlformats.org/officeDocument/2006/relationships/image"/><Relationship Id="rId12" Target="../media/image54.png" Type="http://schemas.openxmlformats.org/officeDocument/2006/relationships/image"/><Relationship Id="rId13" Target="../media/image55.png" Type="http://schemas.openxmlformats.org/officeDocument/2006/relationships/image"/><Relationship Id="rId14" Target="../media/image56.png" Type="http://schemas.openxmlformats.org/officeDocument/2006/relationships/image"/><Relationship Id="rId15" Target="../media/image57.png" Type="http://schemas.openxmlformats.org/officeDocument/2006/relationships/image"/><Relationship Id="rId16" Target="../media/image58.png" Type="http://schemas.openxmlformats.org/officeDocument/2006/relationships/image"/><Relationship Id="rId17" Target="../media/image59.png" Type="http://schemas.openxmlformats.org/officeDocument/2006/relationships/image"/><Relationship Id="rId18" Target="../media/image60.png" Type="http://schemas.openxmlformats.org/officeDocument/2006/relationships/image"/><Relationship Id="rId19" Target="../media/image61.png" Type="http://schemas.openxmlformats.org/officeDocument/2006/relationships/image"/><Relationship Id="rId2" Target="../media/image22.png" Type="http://schemas.openxmlformats.org/officeDocument/2006/relationships/image"/><Relationship Id="rId3" Target="../media/image48.png" Type="http://schemas.openxmlformats.org/officeDocument/2006/relationships/image"/><Relationship Id="rId4" Target="../media/image3.png" Type="http://schemas.openxmlformats.org/officeDocument/2006/relationships/image"/><Relationship Id="rId5" Target="../media/image49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50.pn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png" Type="http://schemas.openxmlformats.org/officeDocument/2006/relationships/image"/><Relationship Id="rId11" Target="../media/image67.png" Type="http://schemas.openxmlformats.org/officeDocument/2006/relationships/image"/><Relationship Id="rId12" Target="../media/image68.png" Type="http://schemas.openxmlformats.org/officeDocument/2006/relationships/image"/><Relationship Id="rId13" Target="../media/image69.png" Type="http://schemas.openxmlformats.org/officeDocument/2006/relationships/image"/><Relationship Id="rId2" Target="../media/image62.png" Type="http://schemas.openxmlformats.org/officeDocument/2006/relationships/image"/><Relationship Id="rId3" Target="../media/image44.png" Type="http://schemas.openxmlformats.org/officeDocument/2006/relationships/image"/><Relationship Id="rId4" Target="../media/image3.png" Type="http://schemas.openxmlformats.org/officeDocument/2006/relationships/image"/><Relationship Id="rId5" Target="../media/image24.png" Type="http://schemas.openxmlformats.org/officeDocument/2006/relationships/image"/><Relationship Id="rId6" Target="../media/image63.png" Type="http://schemas.openxmlformats.org/officeDocument/2006/relationships/image"/><Relationship Id="rId7" Target="../media/image64.png" Type="http://schemas.openxmlformats.org/officeDocument/2006/relationships/image"/><Relationship Id="rId8" Target="../media/image65.png" Type="http://schemas.openxmlformats.org/officeDocument/2006/relationships/image"/><Relationship Id="rId9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DEAF3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09700" y="1397000"/>
            <a:ext cx="21577300" cy="11785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90600" y="1181100"/>
            <a:ext cx="22402800" cy="11785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98500" y="1117600"/>
            <a:ext cx="22872700" cy="11633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087100" y="-88900"/>
            <a:ext cx="2209800" cy="2209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350500" y="-165100"/>
            <a:ext cx="3949700" cy="129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5321300" y="-2603500"/>
            <a:ext cx="1028700" cy="7442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8034000" y="-2590800"/>
            <a:ext cx="1028700" cy="7442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74800" y="2044700"/>
            <a:ext cx="2514600" cy="647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294600" y="2044700"/>
            <a:ext cx="2514600" cy="647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597400" y="9931400"/>
            <a:ext cx="15189200" cy="11811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7886700" y="10287000"/>
            <a:ext cx="8255000" cy="469900"/>
          </a:xfrm>
          <a:prstGeom prst="rect">
            <a:avLst/>
          </a:prstGeom>
        </p:spPr>
        <p:txBody>
          <a:bodyPr anchor="ctr" rtlCol="false" lIns="0" tIns="33479" rIns="0" bIns="33479"/>
          <a:lstStyle/>
          <a:p>
            <a:pPr algn="ctr" lvl="0">
              <a:lnSpc>
                <a:spcPct val="99600"/>
              </a:lnSpc>
            </a:pPr>
            <a:r>
              <a:rPr lang="ko-KR" sz="2636" b="false" i="false" u="none" strike="noStrike" spc="264">
                <a:solidFill>
                  <a:srgbClr val="000000"/>
                </a:solidFill>
                <a:ea typeface="Gmarket Sans Bold"/>
              </a:rPr>
              <a:t>이민아</a:t>
            </a:r>
            <a:r>
              <a:rPr lang="en-US" sz="2636" b="false" i="false" u="none" strike="noStrike" spc="264">
                <a:solidFill>
                  <a:srgbClr val="000000"/>
                </a:solidFill>
                <a:latin typeface="Gmarket Sans Bold"/>
              </a:rPr>
              <a:t>[</a:t>
            </a:r>
            <a:r>
              <a:rPr lang="ko-KR" sz="2636" b="false" i="false" u="none" strike="noStrike" spc="264">
                <a:solidFill>
                  <a:srgbClr val="000000"/>
                </a:solidFill>
                <a:ea typeface="Gmarket Sans Bold"/>
              </a:rPr>
              <a:t>한양여자대학교</a:t>
            </a:r>
            <a:r>
              <a:rPr lang="en-US" sz="2636" b="false" i="false" u="none" strike="noStrike" spc="264">
                <a:solidFill>
                  <a:srgbClr val="000000"/>
                </a:solidFill>
                <a:latin typeface="Gmarket Sans Bold"/>
              </a:rPr>
              <a:t>] </a:t>
            </a:r>
            <a:r>
              <a:rPr lang="ko-KR" sz="2636" b="false" i="false" u="none" strike="noStrike" spc="264">
                <a:solidFill>
                  <a:srgbClr val="000000"/>
                </a:solidFill>
                <a:ea typeface="Gmarket Sans Bold"/>
              </a:rPr>
              <a:t>하효동</a:t>
            </a:r>
            <a:r>
              <a:rPr lang="en-US" sz="2636" b="false" i="false" u="none" strike="noStrike" spc="264">
                <a:solidFill>
                  <a:srgbClr val="000000"/>
                </a:solidFill>
                <a:latin typeface="Gmarket Sans Bold"/>
              </a:rPr>
              <a:t>[</a:t>
            </a:r>
            <a:r>
              <a:rPr lang="ko-KR" sz="2636" b="false" i="false" u="none" strike="noStrike" spc="264">
                <a:solidFill>
                  <a:srgbClr val="000000"/>
                </a:solidFill>
                <a:ea typeface="Gmarket Sans Bold"/>
              </a:rPr>
              <a:t>한양여자대학교</a:t>
            </a:r>
            <a:r>
              <a:rPr lang="en-US" sz="2636" b="false" i="false" u="none" strike="noStrike" spc="264">
                <a:solidFill>
                  <a:srgbClr val="000000"/>
                </a:solidFill>
                <a:latin typeface="Gmarket Sans Bold"/>
              </a:rPr>
              <a:t>]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775200" y="10071100"/>
            <a:ext cx="914400" cy="9144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2730500" y="5626100"/>
            <a:ext cx="18935700" cy="1612900"/>
          </a:xfrm>
          <a:prstGeom prst="rect">
            <a:avLst/>
          </a:prstGeom>
        </p:spPr>
        <p:txBody>
          <a:bodyPr anchor="t" rtlCol="false" lIns="0" tIns="115138" rIns="0" bIns="0"/>
          <a:lstStyle/>
          <a:p>
            <a:pPr algn="ctr" lvl="0">
              <a:lnSpc>
                <a:spcPct val="99600"/>
              </a:lnSpc>
            </a:pPr>
            <a:r>
              <a:rPr lang="en-US" sz="9065" b="true" i="false" u="none" strike="noStrike" spc="544">
                <a:solidFill>
                  <a:srgbClr val="000000"/>
                </a:solidFill>
                <a:latin typeface="Steiner Light"/>
              </a:rPr>
              <a:t>AI</a:t>
            </a:r>
            <a:r>
              <a:rPr lang="ko-KR" sz="9065" b="true" i="false" u="none" strike="noStrike" spc="544">
                <a:solidFill>
                  <a:srgbClr val="000000"/>
                </a:solidFill>
                <a:ea typeface="Steiner Light"/>
              </a:rPr>
              <a:t>기반</a:t>
            </a:r>
            <a:r>
              <a:rPr lang="en-US" sz="9065" b="true" i="false" u="none" strike="noStrike" spc="544">
                <a:solidFill>
                  <a:srgbClr val="000000"/>
                </a:solidFill>
                <a:latin typeface="Steiner Light"/>
              </a:rPr>
              <a:t> </a:t>
            </a:r>
            <a:r>
              <a:rPr lang="ko-KR" sz="9065" b="true" i="false" u="none" strike="noStrike" spc="544">
                <a:solidFill>
                  <a:srgbClr val="000000"/>
                </a:solidFill>
                <a:ea typeface="Steiner Light"/>
              </a:rPr>
              <a:t>건강</a:t>
            </a:r>
            <a:r>
              <a:rPr lang="en-US" sz="9065" b="true" i="false" u="none" strike="noStrike" spc="544">
                <a:solidFill>
                  <a:srgbClr val="000000"/>
                </a:solidFill>
                <a:latin typeface="Steiner Light"/>
              </a:rPr>
              <a:t> </a:t>
            </a:r>
            <a:r>
              <a:rPr lang="ko-KR" sz="9065" b="true" i="false" u="none" strike="noStrike" spc="544">
                <a:solidFill>
                  <a:srgbClr val="000000"/>
                </a:solidFill>
                <a:ea typeface="Steiner Light"/>
              </a:rPr>
              <a:t>특화</a:t>
            </a:r>
            <a:r>
              <a:rPr lang="en-US" sz="9065" b="true" i="false" u="none" strike="noStrike" spc="544">
                <a:solidFill>
                  <a:srgbClr val="000000"/>
                </a:solidFill>
                <a:latin typeface="Steiner Light"/>
              </a:rPr>
              <a:t> </a:t>
            </a:r>
            <a:r>
              <a:rPr lang="ko-KR" sz="9065" b="true" i="false" u="none" strike="noStrike" spc="544">
                <a:solidFill>
                  <a:srgbClr val="000000"/>
                </a:solidFill>
                <a:ea typeface="Steiner Light"/>
              </a:rPr>
              <a:t>빵집</a:t>
            </a:r>
            <a:r>
              <a:rPr lang="en-US" sz="9065" b="true" i="false" u="none" strike="noStrike" spc="544">
                <a:solidFill>
                  <a:srgbClr val="000000"/>
                </a:solidFill>
                <a:latin typeface="Steiner Light"/>
              </a:rPr>
              <a:t> </a:t>
            </a:r>
            <a:r>
              <a:rPr lang="ko-KR" sz="9065" b="true" i="false" u="none" strike="noStrike" spc="544">
                <a:solidFill>
                  <a:srgbClr val="000000"/>
                </a:solidFill>
                <a:ea typeface="Steiner Light"/>
              </a:rPr>
              <a:t>추천</a:t>
            </a:r>
            <a:r>
              <a:rPr lang="en-US" sz="9065" b="true" i="false" u="none" strike="noStrike" spc="544">
                <a:solidFill>
                  <a:srgbClr val="000000"/>
                </a:solidFill>
                <a:latin typeface="Steiner Light"/>
              </a:rPr>
              <a:t> </a:t>
            </a:r>
            <a:r>
              <a:rPr lang="ko-KR" sz="9065" b="true" i="false" u="none" strike="noStrike" spc="544">
                <a:solidFill>
                  <a:srgbClr val="000000"/>
                </a:solidFill>
                <a:ea typeface="Steiner Light"/>
              </a:rPr>
              <a:t>시스템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087100" y="8077200"/>
            <a:ext cx="1854200" cy="1854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DEAF3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09700" y="1397000"/>
            <a:ext cx="21577300" cy="11785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90600" y="1181100"/>
            <a:ext cx="22402800" cy="11785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98500" y="1117600"/>
            <a:ext cx="22872700" cy="11633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087100" y="-88900"/>
            <a:ext cx="2209800" cy="2209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350500" y="-165100"/>
            <a:ext cx="3949700" cy="129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5321300" y="-2603500"/>
            <a:ext cx="1028700" cy="7442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8034000" y="-2590800"/>
            <a:ext cx="1028700" cy="7442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74800" y="2044700"/>
            <a:ext cx="2514600" cy="647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294600" y="2044700"/>
            <a:ext cx="2514600" cy="647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400300" y="7594600"/>
            <a:ext cx="4406900" cy="1003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527300" y="7696200"/>
            <a:ext cx="787400" cy="7874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2603500" y="7848600"/>
            <a:ext cx="622300" cy="533400"/>
          </a:xfrm>
          <a:prstGeom prst="rect">
            <a:avLst/>
          </a:prstGeom>
        </p:spPr>
        <p:txBody>
          <a:bodyPr anchor="t" rtlCol="false" lIns="0" tIns="33866" rIns="0" bIns="0"/>
          <a:lstStyle/>
          <a:p>
            <a:pPr algn="ctr" lvl="0">
              <a:lnSpc>
                <a:spcPct val="99600"/>
              </a:lnSpc>
            </a:pPr>
            <a:r>
              <a:rPr lang="en" sz="2666" b="false" i="false" u="none" strike="noStrike">
                <a:solidFill>
                  <a:srgbClr val="000000"/>
                </a:solidFill>
                <a:latin typeface="Gmarket Sans Medium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87800" y="7848600"/>
            <a:ext cx="1397000" cy="469900"/>
          </a:xfrm>
          <a:prstGeom prst="rect">
            <a:avLst/>
          </a:prstGeom>
        </p:spPr>
        <p:txBody>
          <a:bodyPr anchor="t" rtlCol="false" lIns="0" tIns="25399" rIns="0" bIns="0"/>
          <a:lstStyle/>
          <a:p>
            <a:pPr algn="r" lvl="0">
              <a:lnSpc>
                <a:spcPct val="103749"/>
              </a:lnSpc>
            </a:pPr>
            <a:r>
              <a:rPr lang="en" sz="2666" b="false" i="false" u="none" strike="noStrike" spc="-27">
                <a:solidFill>
                  <a:srgbClr val="000000"/>
                </a:solidFill>
                <a:ea typeface="Gmarket Sans Medium"/>
              </a:rPr>
              <a:t>연구배경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436100" y="7696200"/>
            <a:ext cx="787400" cy="7874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9525000" y="7848600"/>
            <a:ext cx="609600" cy="469900"/>
          </a:xfrm>
          <a:prstGeom prst="rect">
            <a:avLst/>
          </a:prstGeom>
        </p:spPr>
        <p:txBody>
          <a:bodyPr anchor="t" rtlCol="false" lIns="0" tIns="33866" rIns="0" bIns="0"/>
          <a:lstStyle/>
          <a:p>
            <a:pPr algn="ctr" lvl="0">
              <a:lnSpc>
                <a:spcPct val="99600"/>
              </a:lnSpc>
            </a:pPr>
            <a:r>
              <a:rPr lang="en" sz="2666" b="false" i="false" u="none" strike="noStrike">
                <a:solidFill>
                  <a:srgbClr val="000000"/>
                </a:solidFill>
                <a:latin typeface="Gmarket Sans Medium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88200" y="3924300"/>
            <a:ext cx="9994900" cy="2120900"/>
          </a:xfrm>
          <a:prstGeom prst="rect">
            <a:avLst/>
          </a:prstGeom>
        </p:spPr>
        <p:txBody>
          <a:bodyPr anchor="t" rtlCol="false" lIns="0" tIns="151256" rIns="0" bIns="0"/>
          <a:lstStyle/>
          <a:p>
            <a:pPr algn="ctr" lvl="0">
              <a:lnSpc>
                <a:spcPct val="99600"/>
              </a:lnSpc>
            </a:pPr>
            <a:r>
              <a:rPr lang="en" sz="11909" b="true" i="false" u="none" strike="noStrike" spc="357">
                <a:solidFill>
                  <a:srgbClr val="000000"/>
                </a:solidFill>
                <a:latin typeface="Steiner Light"/>
              </a:rPr>
              <a:t>Contents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378700" y="7594600"/>
            <a:ext cx="4406900" cy="1003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505700" y="7696200"/>
            <a:ext cx="787400" cy="7366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7594600" y="7848600"/>
            <a:ext cx="609600" cy="469900"/>
          </a:xfrm>
          <a:prstGeom prst="rect">
            <a:avLst/>
          </a:prstGeom>
        </p:spPr>
        <p:txBody>
          <a:bodyPr anchor="t" rtlCol="false" lIns="0" tIns="33866" rIns="0" bIns="0"/>
          <a:lstStyle/>
          <a:p>
            <a:pPr algn="ctr" lvl="0">
              <a:lnSpc>
                <a:spcPct val="99600"/>
              </a:lnSpc>
            </a:pPr>
            <a:r>
              <a:rPr lang="en" sz="2666" b="false" i="false" u="none" strike="noStrike">
                <a:solidFill>
                  <a:srgbClr val="000000"/>
                </a:solidFill>
                <a:latin typeface="Gmarket Sans Medium"/>
              </a:rPr>
              <a:t>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02600" y="7848600"/>
            <a:ext cx="2984500" cy="520700"/>
          </a:xfrm>
          <a:prstGeom prst="rect">
            <a:avLst/>
          </a:prstGeom>
        </p:spPr>
        <p:txBody>
          <a:bodyPr anchor="t" rtlCol="false" lIns="0" tIns="25399" rIns="0" bIns="0"/>
          <a:lstStyle/>
          <a:p>
            <a:pPr algn="r" lvl="0">
              <a:lnSpc>
                <a:spcPct val="103749"/>
              </a:lnSpc>
            </a:pPr>
            <a:r>
              <a:rPr lang="ko-KR" sz="2666" b="false" i="false" u="none" strike="noStrike" spc="-27">
                <a:solidFill>
                  <a:srgbClr val="000000"/>
                </a:solidFill>
                <a:ea typeface="Gmarket Sans Medium"/>
              </a:rPr>
              <a:t>시스템</a:t>
            </a:r>
            <a:r>
              <a:rPr lang="en-US" sz="2666" b="false" i="false" u="none" strike="noStrike" spc="-27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2666" b="false" i="false" u="none" strike="noStrike" spc="-27">
                <a:solidFill>
                  <a:srgbClr val="000000"/>
                </a:solidFill>
                <a:ea typeface="Gmarket Sans Medium"/>
              </a:rPr>
              <a:t>설계</a:t>
            </a:r>
            <a:r>
              <a:rPr lang="en-US" sz="2666" b="false" i="false" u="none" strike="noStrike" spc="-27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2666" b="false" i="false" u="none" strike="noStrike" spc="-27">
                <a:solidFill>
                  <a:srgbClr val="000000"/>
                </a:solidFill>
                <a:ea typeface="Gmarket Sans Medium"/>
              </a:rPr>
              <a:t>개요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369800" y="7594600"/>
            <a:ext cx="4406900" cy="10033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496800" y="7696200"/>
            <a:ext cx="787400" cy="7874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2585700" y="7848600"/>
            <a:ext cx="609600" cy="469900"/>
          </a:xfrm>
          <a:prstGeom prst="rect">
            <a:avLst/>
          </a:prstGeom>
        </p:spPr>
        <p:txBody>
          <a:bodyPr anchor="t" rtlCol="false" lIns="0" tIns="33866" rIns="0" bIns="0"/>
          <a:lstStyle/>
          <a:p>
            <a:pPr algn="ctr" lvl="0">
              <a:lnSpc>
                <a:spcPct val="99600"/>
              </a:lnSpc>
            </a:pPr>
            <a:r>
              <a:rPr lang="en" sz="2666" b="false" i="false" u="none" strike="noStrike">
                <a:solidFill>
                  <a:srgbClr val="000000"/>
                </a:solidFill>
                <a:latin typeface="Gmarket Sans Medium"/>
              </a:rPr>
              <a:t>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369800" y="7848600"/>
            <a:ext cx="2984500" cy="520700"/>
          </a:xfrm>
          <a:prstGeom prst="rect">
            <a:avLst/>
          </a:prstGeom>
        </p:spPr>
        <p:txBody>
          <a:bodyPr anchor="t" rtlCol="false" lIns="0" tIns="25399" rIns="0" bIns="0"/>
          <a:lstStyle/>
          <a:p>
            <a:pPr algn="r" lvl="0">
              <a:lnSpc>
                <a:spcPct val="103749"/>
              </a:lnSpc>
            </a:pPr>
            <a:r>
              <a:rPr lang="en" sz="2666" b="false" i="false" u="none" strike="noStrike" spc="-27">
                <a:solidFill>
                  <a:srgbClr val="000000"/>
                </a:solidFill>
                <a:ea typeface="Gmarket Sans Medium"/>
              </a:rPr>
              <a:t>실현결과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348200" y="7594600"/>
            <a:ext cx="4406900" cy="10033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475200" y="7696200"/>
            <a:ext cx="787400" cy="7874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7564100" y="7848600"/>
            <a:ext cx="609600" cy="469900"/>
          </a:xfrm>
          <a:prstGeom prst="rect">
            <a:avLst/>
          </a:prstGeom>
        </p:spPr>
        <p:txBody>
          <a:bodyPr anchor="t" rtlCol="false" lIns="0" tIns="33866" rIns="0" bIns="0"/>
          <a:lstStyle/>
          <a:p>
            <a:pPr algn="ctr" lvl="0">
              <a:lnSpc>
                <a:spcPct val="99600"/>
              </a:lnSpc>
            </a:pPr>
            <a:r>
              <a:rPr lang="en" sz="2666" b="false" i="false" u="none" strike="noStrike">
                <a:solidFill>
                  <a:srgbClr val="000000"/>
                </a:solidFill>
                <a:latin typeface="Gmarket Sans Medium"/>
              </a:rPr>
              <a:t>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005300" y="7848600"/>
            <a:ext cx="2984500" cy="520700"/>
          </a:xfrm>
          <a:prstGeom prst="rect">
            <a:avLst/>
          </a:prstGeom>
        </p:spPr>
        <p:txBody>
          <a:bodyPr anchor="t" rtlCol="false" lIns="0" tIns="25399" rIns="0" bIns="0"/>
          <a:lstStyle/>
          <a:p>
            <a:pPr algn="r" lvl="0">
              <a:lnSpc>
                <a:spcPct val="103749"/>
              </a:lnSpc>
            </a:pPr>
            <a:r>
              <a:rPr lang="en" sz="2666" b="false" i="false" u="none" strike="noStrike" spc="-27">
                <a:solidFill>
                  <a:srgbClr val="000000"/>
                </a:solidFill>
                <a:ea typeface="Gmarket Sans Medium"/>
              </a:rPr>
              <a:t>결론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505700" y="7683500"/>
            <a:ext cx="787400" cy="787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527300" y="7696200"/>
            <a:ext cx="787400" cy="7874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475200" y="7696200"/>
            <a:ext cx="787400" cy="7874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496800" y="7696200"/>
            <a:ext cx="7874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DEAF3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09700" y="1397000"/>
            <a:ext cx="21577300" cy="11785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90600" y="1181100"/>
            <a:ext cx="22402800" cy="11785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98500" y="1117600"/>
            <a:ext cx="22872700" cy="11633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350500" y="-165100"/>
            <a:ext cx="3949700" cy="129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684000" y="1143000"/>
            <a:ext cx="1003300" cy="5816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684000" y="6934200"/>
            <a:ext cx="1003300" cy="5816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74800" y="1689100"/>
            <a:ext cx="2514600" cy="647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778000" y="1816100"/>
            <a:ext cx="2120900" cy="419100"/>
          </a:xfrm>
          <a:prstGeom prst="rect">
            <a:avLst/>
          </a:prstGeom>
        </p:spPr>
        <p:txBody>
          <a:bodyPr anchor="t" rtlCol="false" lIns="0" tIns="20319" rIns="0" bIns="0"/>
          <a:lstStyle/>
          <a:p>
            <a:pPr algn="ctr" lvl="0">
              <a:lnSpc>
                <a:spcPct val="103749"/>
              </a:lnSpc>
            </a:pPr>
            <a:r>
              <a:rPr lang="en" sz="2133" b="false" i="false" u="none" strike="noStrike">
                <a:solidFill>
                  <a:srgbClr val="000000"/>
                </a:solidFill>
                <a:ea typeface="Pretendard Regular"/>
              </a:rPr>
              <a:t>연구배경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294600" y="1689100"/>
            <a:ext cx="2514600" cy="647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413000" y="7962900"/>
            <a:ext cx="8267700" cy="1016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590800" y="8077200"/>
            <a:ext cx="787400" cy="787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690600" y="3797300"/>
            <a:ext cx="8636000" cy="127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3881100" y="4051300"/>
            <a:ext cx="2806700" cy="4318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9400"/>
              </a:lnSpc>
            </a:pPr>
            <a:r>
              <a:rPr lang="ko-KR" sz="2399" b="true" i="false" u="none" strike="noStrike">
                <a:solidFill>
                  <a:srgbClr val="000000"/>
                </a:solidFill>
                <a:ea typeface="Gmarket Sans Medium"/>
              </a:rPr>
              <a:t>건강</a:t>
            </a:r>
            <a:r>
              <a:rPr lang="en-US" sz="2399" b="true" i="false" u="none" strike="noStrike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2399" b="true" i="false" u="none" strike="noStrike">
                <a:solidFill>
                  <a:srgbClr val="000000"/>
                </a:solidFill>
                <a:ea typeface="Gmarket Sans Medium"/>
              </a:rPr>
              <a:t>중시</a:t>
            </a:r>
            <a:r>
              <a:rPr lang="en-US" sz="2399" b="true" i="false" u="none" strike="noStrike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2399" b="true" i="false" u="none" strike="noStrike">
                <a:solidFill>
                  <a:srgbClr val="000000"/>
                </a:solidFill>
                <a:ea typeface="Gmarket Sans Medium"/>
              </a:rPr>
              <a:t>소비</a:t>
            </a:r>
            <a:r>
              <a:rPr lang="en-US" sz="2399" b="true" i="false" u="none" strike="noStrike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2399" b="true" i="false" u="none" strike="noStrike">
                <a:solidFill>
                  <a:srgbClr val="000000"/>
                </a:solidFill>
                <a:ea typeface="Gmarket Sans Medium"/>
              </a:rPr>
              <a:t>확대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690600" y="6870700"/>
            <a:ext cx="8636000" cy="127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3550900" y="7150100"/>
            <a:ext cx="3352800" cy="3937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9400"/>
              </a:lnSpc>
            </a:pPr>
            <a:r>
              <a:rPr lang="ko-KR" sz="2195" b="true" i="false" u="none" strike="noStrike">
                <a:solidFill>
                  <a:srgbClr val="000000"/>
                </a:solidFill>
                <a:ea typeface="Gmarket Sans Medium"/>
              </a:rPr>
              <a:t>환경</a:t>
            </a:r>
            <a:r>
              <a:rPr lang="en-US" sz="2195" b="true" i="false" u="none" strike="noStrike">
                <a:solidFill>
                  <a:srgbClr val="000000"/>
                </a:solidFill>
                <a:latin typeface="Gmarket Sans Medium"/>
              </a:rPr>
              <a:t>·</a:t>
            </a:r>
            <a:r>
              <a:rPr lang="ko-KR" sz="2195" b="true" i="false" u="none" strike="noStrike">
                <a:solidFill>
                  <a:srgbClr val="000000"/>
                </a:solidFill>
                <a:ea typeface="Gmarket Sans Medium"/>
              </a:rPr>
              <a:t>윤리적</a:t>
            </a:r>
            <a:r>
              <a:rPr lang="en-US" sz="2195" b="true" i="false" u="none" strike="noStrike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2195" b="true" i="false" u="none" strike="noStrike">
                <a:solidFill>
                  <a:srgbClr val="000000"/>
                </a:solidFill>
                <a:ea typeface="Gmarket Sans Medium"/>
              </a:rPr>
              <a:t>가치소비</a:t>
            </a:r>
            <a:r>
              <a:rPr lang="en-US" sz="2195" b="true" i="false" u="none" strike="noStrike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2195" b="true" i="false" u="none" strike="noStrike">
                <a:solidFill>
                  <a:srgbClr val="000000"/>
                </a:solidFill>
                <a:ea typeface="Gmarket Sans Medium"/>
              </a:rPr>
              <a:t>증가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690600" y="9944100"/>
            <a:ext cx="8636000" cy="127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3830300" y="10210800"/>
            <a:ext cx="2857500" cy="3048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9400"/>
              </a:lnSpc>
            </a:pPr>
            <a:r>
              <a:rPr lang="ko-KR" sz="2399" b="true" i="false" u="none" strike="noStrike">
                <a:solidFill>
                  <a:srgbClr val="000000"/>
                </a:solidFill>
                <a:ea typeface="Gmarket Sans Medium"/>
              </a:rPr>
              <a:t>베이커리</a:t>
            </a:r>
            <a:r>
              <a:rPr lang="en-US" sz="2399" b="true" i="false" u="none" strike="noStrike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2399" b="true" i="false" u="none" strike="noStrike">
                <a:solidFill>
                  <a:srgbClr val="000000"/>
                </a:solidFill>
                <a:ea typeface="Gmarket Sans Medium"/>
              </a:rPr>
              <a:t>시장변화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730500" y="3822700"/>
            <a:ext cx="7620000" cy="1854200"/>
          </a:xfrm>
          <a:prstGeom prst="rect">
            <a:avLst/>
          </a:prstGeom>
        </p:spPr>
        <p:txBody>
          <a:bodyPr anchor="t" rtlCol="false" lIns="0" tIns="118530" rIns="0" bIns="0"/>
          <a:lstStyle/>
          <a:p>
            <a:pPr algn="ctr" lvl="0">
              <a:lnSpc>
                <a:spcPct val="99600"/>
              </a:lnSpc>
            </a:pPr>
            <a:r>
              <a:rPr lang="en" sz="9333" b="true" i="false" u="none" strike="noStrike" spc="187">
                <a:solidFill>
                  <a:srgbClr val="000000"/>
                </a:solidFill>
                <a:ea typeface="Steiner Light"/>
              </a:rPr>
              <a:t>연구배경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119600" y="3975100"/>
            <a:ext cx="3873500" cy="27305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7119600" y="7277100"/>
            <a:ext cx="3873500" cy="2286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119600" y="10121900"/>
            <a:ext cx="3873500" cy="2425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7119600" y="10121900"/>
            <a:ext cx="3873500" cy="2425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DEAF3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09700" y="1397000"/>
            <a:ext cx="21577300" cy="11785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90600" y="1181100"/>
            <a:ext cx="22402800" cy="11785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98500" y="1117600"/>
            <a:ext cx="22872700" cy="11633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087100" y="-88900"/>
            <a:ext cx="2209800" cy="2209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350500" y="-165100"/>
            <a:ext cx="3949700" cy="129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5321300" y="-2603500"/>
            <a:ext cx="1028700" cy="7442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8034000" y="-2590800"/>
            <a:ext cx="1028700" cy="7442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74800" y="2044700"/>
            <a:ext cx="2514600" cy="647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294600" y="2044700"/>
            <a:ext cx="2514600" cy="647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616200" y="5943600"/>
            <a:ext cx="4660900" cy="1003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755900" y="6057900"/>
            <a:ext cx="762000" cy="7620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2832100" y="6248400"/>
            <a:ext cx="596900" cy="406400"/>
          </a:xfrm>
          <a:prstGeom prst="rect">
            <a:avLst/>
          </a:prstGeom>
        </p:spPr>
        <p:txBody>
          <a:bodyPr anchor="t" rtlCol="false" lIns="0" tIns="28786" rIns="0" bIns="0"/>
          <a:lstStyle/>
          <a:p>
            <a:pPr algn="ctr" lvl="0">
              <a:lnSpc>
                <a:spcPct val="99600"/>
              </a:lnSpc>
            </a:pPr>
            <a:r>
              <a:rPr lang="en" sz="2266" b="false" i="false" u="none" strike="noStrike">
                <a:solidFill>
                  <a:srgbClr val="000000"/>
                </a:solidFill>
                <a:latin typeface="Gmarket Sans Medium"/>
              </a:rPr>
              <a:t>1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616200" y="7531100"/>
            <a:ext cx="4660900" cy="1003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755900" y="7658100"/>
            <a:ext cx="762000" cy="7620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2832100" y="7823200"/>
            <a:ext cx="596900" cy="406400"/>
          </a:xfrm>
          <a:prstGeom prst="rect">
            <a:avLst/>
          </a:prstGeom>
        </p:spPr>
        <p:txBody>
          <a:bodyPr anchor="t" rtlCol="false" lIns="0" tIns="28786" rIns="0" bIns="0"/>
          <a:lstStyle/>
          <a:p>
            <a:pPr algn="ctr" lvl="0">
              <a:lnSpc>
                <a:spcPct val="99600"/>
              </a:lnSpc>
            </a:pPr>
            <a:r>
              <a:rPr lang="en" sz="2266" b="false" i="false" u="none" strike="noStrike">
                <a:solidFill>
                  <a:srgbClr val="000000"/>
                </a:solidFill>
                <a:latin typeface="Gmarket Sans Medium"/>
              </a:rPr>
              <a:t>2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616200" y="9131300"/>
            <a:ext cx="4660900" cy="1003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755900" y="9245600"/>
            <a:ext cx="762000" cy="7620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2832100" y="9410700"/>
            <a:ext cx="596900" cy="406400"/>
          </a:xfrm>
          <a:prstGeom prst="rect">
            <a:avLst/>
          </a:prstGeom>
        </p:spPr>
        <p:txBody>
          <a:bodyPr anchor="t" rtlCol="false" lIns="0" tIns="28786" rIns="0" bIns="0"/>
          <a:lstStyle/>
          <a:p>
            <a:pPr algn="ctr" lvl="0">
              <a:lnSpc>
                <a:spcPct val="99600"/>
              </a:lnSpc>
            </a:pPr>
            <a:r>
              <a:rPr lang="en" sz="2266" b="false" i="false" u="none" strike="noStrike">
                <a:solidFill>
                  <a:srgbClr val="000000"/>
                </a:solidFill>
                <a:latin typeface="Gmarket Sans Medium"/>
              </a:rPr>
              <a:t>3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616200" y="10718800"/>
            <a:ext cx="4660900" cy="1003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755900" y="10833100"/>
            <a:ext cx="762000" cy="7620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2832100" y="10998200"/>
            <a:ext cx="596900" cy="406400"/>
          </a:xfrm>
          <a:prstGeom prst="rect">
            <a:avLst/>
          </a:prstGeom>
        </p:spPr>
        <p:txBody>
          <a:bodyPr anchor="t" rtlCol="false" lIns="0" tIns="28786" rIns="0" bIns="0"/>
          <a:lstStyle/>
          <a:p>
            <a:pPr algn="ctr" lvl="0">
              <a:lnSpc>
                <a:spcPct val="99600"/>
              </a:lnSpc>
            </a:pPr>
            <a:r>
              <a:rPr lang="en" sz="2266" b="false" i="false" u="none" strike="noStrike">
                <a:solidFill>
                  <a:srgbClr val="000000"/>
                </a:solidFill>
                <a:latin typeface="Gmarket Sans Medium"/>
              </a:rPr>
              <a:t>4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7162800" y="5943600"/>
            <a:ext cx="14605000" cy="254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7708900" y="5956300"/>
            <a:ext cx="14351000" cy="1028700"/>
          </a:xfrm>
          <a:prstGeom prst="rect">
            <a:avLst/>
          </a:prstGeom>
        </p:spPr>
        <p:txBody>
          <a:bodyPr anchor="ctr" rtlCol="false" lIns="0" tIns="37252" rIns="0" bIns="37252"/>
          <a:lstStyle/>
          <a:p>
            <a:pPr algn="l" lvl="0">
              <a:lnSpc>
                <a:spcPct val="99600"/>
              </a:lnSpc>
            </a:pP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사용자가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입력한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베이커리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정보를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기반으로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AI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가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건강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관련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카테고리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(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비건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저당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무첨가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일반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등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)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를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자동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분류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7162800" y="7531100"/>
            <a:ext cx="14605000" cy="254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7721600" y="7543800"/>
            <a:ext cx="15963900" cy="1028700"/>
          </a:xfrm>
          <a:prstGeom prst="rect">
            <a:avLst/>
          </a:prstGeom>
        </p:spPr>
        <p:txBody>
          <a:bodyPr anchor="ctr" rtlCol="false" lIns="0" tIns="37252" rIns="0" bIns="37252"/>
          <a:lstStyle/>
          <a:p>
            <a:pPr algn="l" lvl="0">
              <a:lnSpc>
                <a:spcPct val="99600"/>
              </a:lnSpc>
            </a:pP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생성형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인공지능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(LLM)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을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활용하여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텍스트의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의미를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이해하고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단순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키워드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탐색이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아닌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문장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전체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맥락을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기반으로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분류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수행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7162800" y="9131300"/>
            <a:ext cx="14605000" cy="254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7721600" y="9347200"/>
            <a:ext cx="15011400" cy="584200"/>
          </a:xfrm>
          <a:prstGeom prst="rect">
            <a:avLst/>
          </a:prstGeom>
        </p:spPr>
        <p:txBody>
          <a:bodyPr anchor="ctr" rtlCol="false" lIns="0" tIns="37252" rIns="0" bIns="37252"/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Streamlit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인터페이스를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통해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누구나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쉽게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사용할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수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있도록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구현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7162800" y="10718800"/>
            <a:ext cx="14605000" cy="254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7721600" y="10718800"/>
            <a:ext cx="13576300" cy="1028700"/>
          </a:xfrm>
          <a:prstGeom prst="rect">
            <a:avLst/>
          </a:prstGeom>
        </p:spPr>
        <p:txBody>
          <a:bodyPr anchor="ctr" rtlCol="false" lIns="0" tIns="37252" rIns="0" bIns="37252"/>
          <a:lstStyle/>
          <a:p>
            <a:pPr algn="l" lvl="0">
              <a:lnSpc>
                <a:spcPct val="99600"/>
              </a:lnSpc>
            </a:pP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영양성분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분석에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집중한것이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아닌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본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연구는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리뷰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·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설명문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중심의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AI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분석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시스템으로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건강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트렌드를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탐색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934200" y="3238500"/>
            <a:ext cx="10502900" cy="1854200"/>
          </a:xfrm>
          <a:prstGeom prst="rect">
            <a:avLst/>
          </a:prstGeom>
        </p:spPr>
        <p:txBody>
          <a:bodyPr anchor="t" rtlCol="false" lIns="0" tIns="118530" rIns="0" bIns="0"/>
          <a:lstStyle/>
          <a:p>
            <a:pPr algn="ctr" lvl="0">
              <a:lnSpc>
                <a:spcPct val="99600"/>
              </a:lnSpc>
            </a:pPr>
            <a:r>
              <a:rPr lang="ko-KR" sz="9333" b="true" i="false" u="none" strike="noStrike" spc="187">
                <a:solidFill>
                  <a:srgbClr val="000000"/>
                </a:solidFill>
                <a:ea typeface="Steiner Light"/>
              </a:rPr>
              <a:t>시스템</a:t>
            </a:r>
            <a:r>
              <a:rPr lang="en-US" sz="9333" b="true" i="false" u="none" strike="noStrike" spc="187">
                <a:solidFill>
                  <a:srgbClr val="000000"/>
                </a:solidFill>
                <a:latin typeface="Steiner Light"/>
              </a:rPr>
              <a:t> </a:t>
            </a:r>
            <a:r>
              <a:rPr lang="ko-KR" sz="9333" b="true" i="false" u="none" strike="noStrike" spc="187">
                <a:solidFill>
                  <a:srgbClr val="000000"/>
                </a:solidFill>
                <a:ea typeface="Steiner Light"/>
              </a:rPr>
              <a:t>설계</a:t>
            </a:r>
            <a:r>
              <a:rPr lang="en-US" sz="9333" b="true" i="false" u="none" strike="noStrike" spc="187">
                <a:solidFill>
                  <a:srgbClr val="000000"/>
                </a:solidFill>
                <a:latin typeface="Steiner Light"/>
              </a:rPr>
              <a:t> </a:t>
            </a:r>
            <a:r>
              <a:rPr lang="ko-KR" sz="9333" b="true" i="false" u="none" strike="noStrike" spc="187">
                <a:solidFill>
                  <a:srgbClr val="000000"/>
                </a:solidFill>
                <a:ea typeface="Steiner Light"/>
              </a:rPr>
              <a:t>개요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DEAF3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09700" y="1397000"/>
            <a:ext cx="21577300" cy="11785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90600" y="1181100"/>
            <a:ext cx="22402800" cy="11785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98500" y="1117600"/>
            <a:ext cx="22872700" cy="11633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087100" y="-88900"/>
            <a:ext cx="2209800" cy="2209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350500" y="-165100"/>
            <a:ext cx="3949700" cy="129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5321300" y="-2603500"/>
            <a:ext cx="1028700" cy="7442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8034000" y="-2590800"/>
            <a:ext cx="1028700" cy="7442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74800" y="2044700"/>
            <a:ext cx="2514600" cy="647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294600" y="2044700"/>
            <a:ext cx="2514600" cy="647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6934200" y="3238500"/>
            <a:ext cx="10502900" cy="1854200"/>
          </a:xfrm>
          <a:prstGeom prst="rect">
            <a:avLst/>
          </a:prstGeom>
        </p:spPr>
        <p:txBody>
          <a:bodyPr anchor="t" rtlCol="false" lIns="0" tIns="118530" rIns="0" bIns="0"/>
          <a:lstStyle/>
          <a:p>
            <a:pPr algn="ctr" lvl="0">
              <a:lnSpc>
                <a:spcPct val="99600"/>
              </a:lnSpc>
            </a:pPr>
            <a:r>
              <a:rPr lang="en" sz="9333" b="true" i="false" u="none" strike="noStrike" spc="187">
                <a:solidFill>
                  <a:srgbClr val="000000"/>
                </a:solidFill>
                <a:ea typeface="Steiner Light"/>
              </a:rPr>
              <a:t>실현결과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0388600" y="8102600"/>
            <a:ext cx="6350000" cy="12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09700" y="5308600"/>
            <a:ext cx="11480800" cy="56134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3817600" y="5130800"/>
            <a:ext cx="15303500" cy="48768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수집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단계에서는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Streamlit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을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기반으로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algn="l" lvl="0">
              <a:lnSpc>
                <a:spcPct val="116199"/>
              </a:lnSpc>
            </a:pP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네이버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플레이스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API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이용</a:t>
            </a:r>
            <a:b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</a:b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성동구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지역을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중심으로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algn="l" lvl="0">
              <a:lnSpc>
                <a:spcPct val="116199"/>
              </a:lnSpc>
            </a:pP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빵과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디저트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매장의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이름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주소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카테고리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등의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정보를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수집했고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,
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이렇게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모은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데이터를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바탕으로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주요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베이커리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리스트를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구성</a:t>
            </a:r>
          </a:p>
          <a:p>
            <a:pPr algn="l" lvl="0">
              <a:lnSpc>
                <a:spcPct val="116199"/>
              </a:lnSpc>
            </a:pPr>
            <a:r>
              <a:rPr lang="en" sz="2740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문장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전체의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의미를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해석할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있도록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생성형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AI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활용</a:t>
            </a:r>
            <a:b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</a:b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마지막으로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출력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단계에서는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Streamlit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대시보드가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algn="l" lvl="0">
              <a:lnSpc>
                <a:spcPct val="116199"/>
              </a:lnSpc>
            </a:pP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사용자의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입력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결과를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시각적으로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보여주도록</a:t>
            </a:r>
            <a:r>
              <a:rPr lang="en-US" sz="274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40" b="false" i="false" u="none" strike="noStrike">
                <a:solidFill>
                  <a:srgbClr val="000000"/>
                </a:solidFill>
                <a:ea typeface="Pretendard Regular"/>
              </a:rPr>
              <a:t>구성</a:t>
            </a:r>
          </a:p>
          <a:p>
            <a:pPr algn="l" lvl="0">
              <a:lnSpc>
                <a:spcPct val="116199"/>
              </a:lnSpc>
            </a:pPr>
            <a:br>
              <a:rPr/>
            </a:b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DEAF3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09700" y="1397000"/>
            <a:ext cx="21577300" cy="11785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90600" y="1181100"/>
            <a:ext cx="22402800" cy="11785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98500" y="1117600"/>
            <a:ext cx="22872700" cy="11633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087100" y="-88900"/>
            <a:ext cx="2209800" cy="2209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350500" y="-165100"/>
            <a:ext cx="3949700" cy="129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5321300" y="-2603500"/>
            <a:ext cx="1028700" cy="7442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8034000" y="-2590800"/>
            <a:ext cx="1028700" cy="7442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293600" y="5537200"/>
            <a:ext cx="3162300" cy="3162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902700" y="8902700"/>
            <a:ext cx="3162300" cy="3162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293600" y="8902700"/>
            <a:ext cx="3162300" cy="3162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902700" y="5537200"/>
            <a:ext cx="3162300" cy="3162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966200" y="5397500"/>
            <a:ext cx="3035300" cy="3454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357100" y="5397500"/>
            <a:ext cx="3035300" cy="3454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966200" y="8750300"/>
            <a:ext cx="3035300" cy="3454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357100" y="8750300"/>
            <a:ext cx="3035300" cy="34544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5925800" y="5956300"/>
            <a:ext cx="2565400" cy="584200"/>
          </a:xfrm>
          <a:prstGeom prst="rect">
            <a:avLst/>
          </a:prstGeom>
        </p:spPr>
        <p:txBody>
          <a:bodyPr anchor="ctr" rtlCol="false" lIns="0" tIns="37252" rIns="0" bIns="37252"/>
          <a:lstStyle/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" sz="2933" b="false" i="false" u="none" strike="noStrike">
                <a:solidFill>
                  <a:srgbClr val="000000"/>
                </a:solidFill>
                <a:ea typeface="Pretendard Medium"/>
              </a:rPr>
              <a:t>기대효과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925800" y="9436100"/>
            <a:ext cx="2768600" cy="520700"/>
          </a:xfrm>
          <a:prstGeom prst="rect">
            <a:avLst/>
          </a:prstGeom>
        </p:spPr>
        <p:txBody>
          <a:bodyPr anchor="ctr" rtlCol="false" lIns="0" tIns="37252" rIns="0" bIns="37252"/>
          <a:lstStyle/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향후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발전</a:t>
            </a:r>
            <a:r>
              <a:rPr lang="en-US" sz="2933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33" b="false" i="false" u="none" strike="noStrike">
                <a:solidFill>
                  <a:srgbClr val="000000"/>
                </a:solidFill>
                <a:ea typeface="Pretendard Medium"/>
              </a:rPr>
              <a:t>방향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826000" y="5969000"/>
            <a:ext cx="3632200" cy="584200"/>
          </a:xfrm>
          <a:prstGeom prst="rect">
            <a:avLst/>
          </a:prstGeom>
        </p:spPr>
        <p:txBody>
          <a:bodyPr anchor="ctr" rtlCol="false" lIns="0" tIns="37252" rIns="0" bIns="37252"/>
          <a:lstStyle/>
          <a:p>
            <a:pPr algn="r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" sz="2933" b="false" i="false" u="none" strike="noStrike">
                <a:solidFill>
                  <a:srgbClr val="000000"/>
                </a:solidFill>
                <a:ea typeface="Pretendard Medium"/>
              </a:rPr>
              <a:t>기능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803900" y="9410700"/>
            <a:ext cx="2654300" cy="584200"/>
          </a:xfrm>
          <a:prstGeom prst="rect">
            <a:avLst/>
          </a:prstGeom>
        </p:spPr>
        <p:txBody>
          <a:bodyPr anchor="ctr" rtlCol="false" lIns="0" tIns="37252" rIns="0" bIns="37252"/>
          <a:lstStyle/>
          <a:p>
            <a:pPr algn="r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" sz="2933" b="false" i="false" u="none" strike="noStrike">
                <a:solidFill>
                  <a:srgbClr val="000000"/>
                </a:solidFill>
                <a:ea typeface="Pretendard Medium"/>
              </a:rPr>
              <a:t>한계점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925800" y="6565900"/>
            <a:ext cx="7569200" cy="14224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4499"/>
              </a:lnSpc>
            </a:pP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소비자는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흩어진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정보를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효율적으로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탐색할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수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있고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, </a:t>
            </a:r>
          </a:p>
          <a:p>
            <a:pPr algn="l" lvl="0">
              <a:lnSpc>
                <a:spcPct val="124499"/>
              </a:lnSpc>
            </a:pP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건강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베이커리에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대한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관심과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접근성이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향상됨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.
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소상공인은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매장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노출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기회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확대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및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고객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유입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가능성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증가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. 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925800" y="9982200"/>
            <a:ext cx="7454900" cy="14224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4499"/>
              </a:lnSpc>
            </a:pP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통합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정보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플랫폼으로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발전하고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시장의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변화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흐름을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데이터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기반으로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파악할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수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있을것으로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기대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.
</a:t>
            </a:r>
            <a:r>
              <a:rPr lang="en" sz="2599" b="false" i="false" u="none" strike="noStrike">
                <a:solidFill>
                  <a:srgbClr val="000000"/>
                </a:solidFill>
                <a:latin typeface="Pretendard Light"/>
              </a:rPr>
              <a:t/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794000" y="6565900"/>
            <a:ext cx="6108700" cy="1422400"/>
          </a:xfrm>
          <a:prstGeom prst="rect">
            <a:avLst/>
          </a:prstGeom>
        </p:spPr>
        <p:txBody>
          <a:bodyPr anchor="ctr" rtlCol="false"/>
          <a:lstStyle/>
          <a:p>
            <a:pPr algn="r" lvl="0">
              <a:lnSpc>
                <a:spcPct val="124499"/>
              </a:lnSpc>
            </a:pP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건강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베이커리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데이터를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한곳에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모아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 </a:t>
            </a:r>
          </a:p>
          <a:p>
            <a:pPr algn="r" lvl="0">
              <a:lnSpc>
                <a:spcPct val="124499"/>
              </a:lnSpc>
            </a:pP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사용자가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원하는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조건에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따라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필터링하고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, </a:t>
            </a:r>
          </a:p>
          <a:p>
            <a:pPr algn="r" lvl="0">
              <a:lnSpc>
                <a:spcPct val="124499"/>
              </a:lnSpc>
            </a:pP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관련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매장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정보를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손쉽게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탐색할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수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있도록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함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. 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52600" y="9944100"/>
            <a:ext cx="6705600" cy="1422400"/>
          </a:xfrm>
          <a:prstGeom prst="rect">
            <a:avLst/>
          </a:prstGeom>
        </p:spPr>
        <p:txBody>
          <a:bodyPr anchor="ctr" rtlCol="false"/>
          <a:lstStyle/>
          <a:p>
            <a:pPr algn="r" lvl="0">
              <a:lnSpc>
                <a:spcPct val="124499"/>
              </a:lnSpc>
            </a:pP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AI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기반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의미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분석이나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자동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추천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기능은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구현되지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않아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현재는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조건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필터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중심의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탐색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구조로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한정됨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.
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완전한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자동화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시스템으로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보기에는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한계가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99" b="false" i="false" u="none" strike="noStrike">
                <a:solidFill>
                  <a:srgbClr val="000000"/>
                </a:solidFill>
                <a:ea typeface="Pretendard Light"/>
              </a:rPr>
              <a:t>있다</a:t>
            </a:r>
            <a:r>
              <a:rPr lang="en-US" sz="2599" b="false" i="false" u="none" strike="noStrike">
                <a:solidFill>
                  <a:srgbClr val="000000"/>
                </a:solidFill>
                <a:latin typeface="Pretendard Light"/>
              </a:rPr>
              <a:t>. 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9918700" y="6553200"/>
            <a:ext cx="1143000" cy="11430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9918700" y="9906000"/>
            <a:ext cx="1143000" cy="11430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3309600" y="6540500"/>
            <a:ext cx="1143000" cy="11430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3309600" y="9906000"/>
            <a:ext cx="1143000" cy="11430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6959600" y="3238500"/>
            <a:ext cx="10464800" cy="1854200"/>
          </a:xfrm>
          <a:prstGeom prst="rect">
            <a:avLst/>
          </a:prstGeom>
        </p:spPr>
        <p:txBody>
          <a:bodyPr anchor="t" rtlCol="false" lIns="0" tIns="118530" rIns="0" bIns="0"/>
          <a:lstStyle/>
          <a:p>
            <a:pPr algn="ctr" lvl="0">
              <a:lnSpc>
                <a:spcPct val="99600"/>
              </a:lnSpc>
            </a:pPr>
            <a:r>
              <a:rPr lang="en" sz="9333" b="true" i="false" u="none" strike="noStrike" spc="187">
                <a:solidFill>
                  <a:srgbClr val="000000"/>
                </a:solidFill>
                <a:ea typeface="Steiner Light"/>
              </a:rPr>
              <a:t>결론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DEAF3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09700" y="1397000"/>
            <a:ext cx="21577300" cy="11785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90600" y="1181100"/>
            <a:ext cx="22402800" cy="11785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98500" y="1117600"/>
            <a:ext cx="22872700" cy="11633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350500" y="-165100"/>
            <a:ext cx="3949700" cy="129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087100" y="-88900"/>
            <a:ext cx="2209800" cy="2209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350500" y="-165100"/>
            <a:ext cx="3949700" cy="129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5130800" y="-3048000"/>
            <a:ext cx="1155700" cy="8331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8097500" y="-3035300"/>
            <a:ext cx="1155700" cy="8331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2044700"/>
            <a:ext cx="2514600" cy="647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294600" y="2044700"/>
            <a:ext cx="2514600" cy="647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6781800" y="5537200"/>
            <a:ext cx="11099800" cy="2641600"/>
          </a:xfrm>
          <a:prstGeom prst="rect">
            <a:avLst/>
          </a:prstGeom>
        </p:spPr>
        <p:txBody>
          <a:bodyPr anchor="t" rtlCol="false" lIns="0" tIns="168639" rIns="0" bIns="0"/>
          <a:lstStyle/>
          <a:p>
            <a:pPr algn="ctr" lvl="0">
              <a:lnSpc>
                <a:spcPct val="99600"/>
              </a:lnSpc>
            </a:pPr>
            <a:r>
              <a:rPr lang="en" sz="13278" b="true" i="false" u="none" strike="noStrike" spc="398">
                <a:solidFill>
                  <a:srgbClr val="000000"/>
                </a:solidFill>
                <a:ea typeface="Steiner Light"/>
              </a:rPr>
              <a:t>감사합니다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883400" y="8966200"/>
            <a:ext cx="10502900" cy="2603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883400" y="10261600"/>
            <a:ext cx="10502900" cy="12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5400000">
            <a:off x="10833100" y="10261600"/>
            <a:ext cx="2603500" cy="12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264400" y="9258300"/>
            <a:ext cx="723900" cy="723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2407900" y="9436100"/>
            <a:ext cx="1447800" cy="355600"/>
          </a:xfrm>
          <a:prstGeom prst="rect">
            <a:avLst/>
          </a:prstGeom>
        </p:spPr>
        <p:txBody>
          <a:bodyPr anchor="ctr" rtlCol="false" lIns="0" tIns="25399" rIns="0" bIns="25399"/>
          <a:lstStyle/>
          <a:p>
            <a:pPr algn="l" lvl="0">
              <a:lnSpc>
                <a:spcPct val="99600"/>
              </a:lnSpc>
            </a:pPr>
            <a:r>
              <a:rPr lang="en" sz="1999" b="true" i="false" u="none" strike="noStrike">
                <a:solidFill>
                  <a:srgbClr val="000000"/>
                </a:solidFill>
                <a:latin typeface="Gmarket Sans Medium"/>
              </a:rPr>
              <a:t>E-mail.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86700" y="9347200"/>
            <a:ext cx="2527300" cy="482600"/>
          </a:xfrm>
          <a:prstGeom prst="rect">
            <a:avLst/>
          </a:prstGeom>
        </p:spPr>
        <p:txBody>
          <a:bodyPr anchor="ctr" rtlCol="false" lIns="0" tIns="30479" rIns="0" bIns="30479"/>
          <a:lstStyle/>
          <a:p>
            <a:pPr algn="r" lvl="0">
              <a:lnSpc>
                <a:spcPct val="99600"/>
              </a:lnSpc>
            </a:pPr>
            <a:r>
              <a:rPr lang="en" sz="2399" b="true" i="false" u="none" strike="noStrike" spc="360">
                <a:solidFill>
                  <a:srgbClr val="000000"/>
                </a:solidFill>
                <a:ea typeface="Gmarket Sans Medium"/>
              </a:rPr>
              <a:t>이민아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30300" y="9410700"/>
            <a:ext cx="3327400" cy="419100"/>
          </a:xfrm>
          <a:prstGeom prst="rect">
            <a:avLst/>
          </a:prstGeom>
        </p:spPr>
        <p:txBody>
          <a:bodyPr anchor="t" rtlCol="false" lIns="0" tIns="20319" rIns="0" bIns="0"/>
          <a:lstStyle/>
          <a:p>
            <a:pPr algn="r" lvl="0">
              <a:lnSpc>
                <a:spcPct val="103749"/>
              </a:lnSpc>
            </a:pPr>
            <a:r>
              <a:rPr lang="en" sz="2133" b="false" i="false" u="none" strike="noStrike" spc="-21">
                <a:solidFill>
                  <a:srgbClr val="000000"/>
                </a:solidFill>
                <a:latin typeface="Gmarket Sans Medium"/>
              </a:rPr>
              <a:t>kebis328@gmail.com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