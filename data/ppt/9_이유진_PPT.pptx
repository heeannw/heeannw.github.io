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24384000" cy="13716000"/>
  <p:notesSz cx="6858000" cy="9144000"/>
  <p:embeddedFontLst>
    <p:embeddedFont>
      <p:font typeface="Pretendard Bold" panose="020B0600000101010101" charset="-127"/>
      <p:bold r:id="rId20"/>
    </p:embeddedFont>
    <p:embeddedFont>
      <p:font typeface="Pretendard Medium" panose="020B0600000101010101" charset="-127"/>
      <p:bold r:id="rId21"/>
    </p:embeddedFont>
    <p:embeddedFont>
      <p:font typeface="Pretendard Regular" panose="020B0600000101010101" charset="-127"/>
      <p:regular r:id="rId22"/>
    </p:embeddedFont>
    <p:embeddedFont>
      <p:font typeface="S-Core Dream 3 Light" panose="020B0303030302020204" pitchFamily="34" charset="-127"/>
      <p:regular r:id="rId23"/>
    </p:embeddedFont>
    <p:embeddedFont>
      <p:font typeface="S-Core Dream 4 Regular" panose="020B0503030302020204" pitchFamily="34" charset="-127"/>
      <p:regular r:id="rId24"/>
    </p:embeddedFont>
    <p:embeddedFont>
      <p:font typeface="S-Core Dream 5 Medium" panose="020B0503030302020204" pitchFamily="34" charset="-127"/>
      <p:regular r:id="rId25"/>
    </p:embeddedFont>
    <p:embeddedFont>
      <p:font typeface="S-Core Dream 7 ExtraBold" panose="020B0803030302020204" pitchFamily="34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750" autoAdjust="0"/>
  </p:normalViewPr>
  <p:slideViewPr>
    <p:cSldViewPr>
      <p:cViewPr varScale="1">
        <p:scale>
          <a:sx n="35" d="100"/>
          <a:sy n="35" d="100"/>
        </p:scale>
        <p:origin x="5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11598-650D-4AE6-ACB9-952FC1CDCD9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BD71B-2146-4A6B-82FD-F94978C33E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92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BD71B-2146-4A6B-82FD-F94978C33E6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3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4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1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24.png"/><Relationship Id="rId4" Type="http://schemas.openxmlformats.org/officeDocument/2006/relationships/image" Target="../media/image44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6.png"/><Relationship Id="rId7" Type="http://schemas.openxmlformats.org/officeDocument/2006/relationships/image" Target="../media/image16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89.png"/><Relationship Id="rId3" Type="http://schemas.openxmlformats.org/officeDocument/2006/relationships/image" Target="../media/image2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2" Type="http://schemas.openxmlformats.org/officeDocument/2006/relationships/image" Target="../media/image80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2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6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5334000"/>
            <a:ext cx="330200" cy="160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0" y="5067300"/>
            <a:ext cx="5994400" cy="520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4445000"/>
            <a:ext cx="6184900" cy="364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0" y="3073400"/>
            <a:ext cx="2832100" cy="349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8500" y="3848100"/>
            <a:ext cx="2768600" cy="260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3900" y="5803900"/>
            <a:ext cx="2959100" cy="278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400" y="5867400"/>
            <a:ext cx="2946400" cy="262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6400" y="9359900"/>
            <a:ext cx="2146300" cy="163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1800" y="3975100"/>
            <a:ext cx="2146300" cy="2692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4100" y="8331200"/>
            <a:ext cx="431800" cy="1625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9245600"/>
            <a:ext cx="457200" cy="1587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9600" y="5791200"/>
            <a:ext cx="635000" cy="88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0" y="8648700"/>
            <a:ext cx="457200" cy="1638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071100" y="2679700"/>
            <a:ext cx="13957300" cy="5270500"/>
          </a:xfrm>
          <a:prstGeom prst="rect">
            <a:avLst/>
          </a:prstGeom>
        </p:spPr>
        <p:txBody>
          <a:bodyPr lIns="0" tIns="169333" rIns="0" bIns="169333" rtlCol="0" anchor="ctr"/>
          <a:lstStyle/>
          <a:p>
            <a:pPr lvl="0">
              <a:lnSpc>
                <a:spcPct val="99600"/>
              </a:lnSpc>
            </a:pPr>
            <a:r>
              <a:rPr lang="ko-KR" altLang="en-US" sz="13333" spc="-1600" dirty="0">
                <a:solidFill>
                  <a:srgbClr val="3958E3"/>
                </a:solidFill>
                <a:ea typeface="S-Core Dream 7 ExtraBold"/>
              </a:rPr>
              <a:t>영화 데이터 분석을 통한 흥행 패턴 연구</a:t>
            </a:r>
            <a:endParaRPr lang="en" sz="13333" b="0" i="0" u="none" strike="noStrike" spc="-1600" dirty="0">
              <a:solidFill>
                <a:srgbClr val="3958E3"/>
              </a:solidFill>
              <a:ea typeface="S-Core Dream 7 Extra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0142200" y="12011026"/>
            <a:ext cx="2921000" cy="596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b="0" i="0" u="none" strike="noStrike" spc="-200" dirty="0">
                <a:solidFill>
                  <a:srgbClr val="000000"/>
                </a:solidFill>
                <a:latin typeface="Pretendard Regular"/>
              </a:rPr>
              <a:t>2302580 </a:t>
            </a:r>
            <a:r>
              <a:rPr lang="ko-KR" sz="3333" b="0" i="0" u="none" strike="noStrike" spc="-200" dirty="0">
                <a:solidFill>
                  <a:srgbClr val="000000"/>
                </a:solidFill>
                <a:ea typeface="Pretendard Regular"/>
              </a:rPr>
              <a:t>이유진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02900" y="7366000"/>
            <a:ext cx="5613400" cy="6858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991" b="0" i="0" u="none" strike="noStrike" spc="-179">
                <a:solidFill>
                  <a:srgbClr val="000000"/>
                </a:solidFill>
                <a:ea typeface="Pretendard Regular"/>
              </a:rPr>
              <a:t>캡스톤</a:t>
            </a:r>
            <a:r>
              <a:rPr lang="en-US" sz="2991" b="0" i="0" u="none" strike="noStrike" spc="-179">
                <a:solidFill>
                  <a:srgbClr val="000000"/>
                </a:solidFill>
                <a:latin typeface="Pretendard Regular"/>
              </a:rPr>
              <a:t>  </a:t>
            </a:r>
            <a:r>
              <a:rPr lang="ko-KR" sz="2991" b="0" i="0" u="none" strike="noStrike" spc="-179">
                <a:solidFill>
                  <a:srgbClr val="000000"/>
                </a:solidFill>
                <a:ea typeface="Pretendard Regular"/>
              </a:rPr>
              <a:t>디자인</a:t>
            </a:r>
            <a:r>
              <a:rPr lang="en-US" sz="2991" b="0" i="0" u="none" strike="noStrike" spc="-179">
                <a:solidFill>
                  <a:srgbClr val="000000"/>
                </a:solidFill>
                <a:latin typeface="Pretendard Regular"/>
              </a:rPr>
              <a:t> EDA </a:t>
            </a:r>
            <a:r>
              <a:rPr lang="ko-KR" sz="2991" b="0" i="0" u="none" strike="noStrike" spc="-179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2991" b="0" i="0" u="none" strike="noStrike" spc="-179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991" b="0" i="0" u="none" strike="noStrike" spc="-179">
                <a:solidFill>
                  <a:srgbClr val="000000"/>
                </a:solidFill>
                <a:ea typeface="Pretendard Regular"/>
              </a:rPr>
              <a:t>프로젝트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21300" y="-5346700"/>
            <a:ext cx="13741400" cy="24422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05000" y="2578100"/>
            <a:ext cx="56134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ea typeface="S-Core Dream 7 ExtraBold"/>
              </a:rPr>
              <a:t>목차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8149200-A0B4-EBA0-5022-77EFA77D110C}"/>
              </a:ext>
            </a:extLst>
          </p:cNvPr>
          <p:cNvGrpSpPr/>
          <p:nvPr/>
        </p:nvGrpSpPr>
        <p:grpSpPr>
          <a:xfrm>
            <a:off x="8890000" y="3505200"/>
            <a:ext cx="13995400" cy="787400"/>
            <a:chOff x="8890000" y="5537200"/>
            <a:chExt cx="13995400" cy="7874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5918200"/>
              <a:ext cx="2463800" cy="254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8890000" y="5537200"/>
              <a:ext cx="2044700" cy="787400"/>
            </a:xfrm>
            <a:prstGeom prst="rect">
              <a:avLst/>
            </a:prstGeom>
          </p:spPr>
          <p:txBody>
            <a:bodyPr lIns="0" tIns="5588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4400" b="0" i="0" u="none" strike="noStrike" dirty="0">
                  <a:solidFill>
                    <a:srgbClr val="000000"/>
                  </a:solidFill>
                  <a:latin typeface="S-Core Dream 7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07700" y="5613400"/>
              <a:ext cx="7734300" cy="635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600" b="0" i="0" u="none" strike="noStrike" dirty="0">
                  <a:solidFill>
                    <a:srgbClr val="000000"/>
                  </a:solidFill>
                  <a:ea typeface="Pretendard Regular"/>
                </a:rPr>
                <a:t>프로젝트</a:t>
              </a:r>
              <a:r>
                <a:rPr lang="en-US" sz="3600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600" b="0" i="0" u="none" strike="noStrike" dirty="0">
                  <a:solidFill>
                    <a:srgbClr val="000000"/>
                  </a:solidFill>
                  <a:ea typeface="Pretendard Regular"/>
                </a:rPr>
                <a:t>개요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78900" y="5664200"/>
              <a:ext cx="1206500" cy="660400"/>
            </a:xfrm>
            <a:prstGeom prst="rect">
              <a:avLst/>
            </a:prstGeom>
          </p:spPr>
          <p:txBody>
            <a:bodyPr lIns="0" tIns="3725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2933" b="0" i="0" u="none" strike="noStrike">
                  <a:solidFill>
                    <a:srgbClr val="000000"/>
                  </a:solidFill>
                  <a:latin typeface="S-Core Dream 7 ExtraBold"/>
                </a:rPr>
                <a:t>03p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0A76DCA-E6E9-8C2D-E8C3-CA07AA81AE96}"/>
              </a:ext>
            </a:extLst>
          </p:cNvPr>
          <p:cNvGrpSpPr/>
          <p:nvPr/>
        </p:nvGrpSpPr>
        <p:grpSpPr>
          <a:xfrm>
            <a:off x="8864600" y="5334000"/>
            <a:ext cx="13995400" cy="787400"/>
            <a:chOff x="8890000" y="7162800"/>
            <a:chExt cx="13995400" cy="7874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543800"/>
              <a:ext cx="2463800" cy="25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8890000" y="7162800"/>
              <a:ext cx="1917700" cy="787400"/>
            </a:xfrm>
            <a:prstGeom prst="rect">
              <a:avLst/>
            </a:prstGeom>
          </p:spPr>
          <p:txBody>
            <a:bodyPr lIns="0" tIns="5588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4400" b="0" i="0" u="none" strike="noStrike" dirty="0">
                  <a:solidFill>
                    <a:srgbClr val="000000"/>
                  </a:solidFill>
                  <a:latin typeface="S-Core Dream 7 ExtraBold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07700" y="7239000"/>
              <a:ext cx="7734300" cy="635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600" b="0" i="0" u="none" strike="noStrike" dirty="0">
                  <a:solidFill>
                    <a:srgbClr val="000000"/>
                  </a:solidFill>
                  <a:ea typeface="Pretendard Regular"/>
                </a:rPr>
                <a:t>프로젝트</a:t>
              </a:r>
              <a:r>
                <a:rPr lang="en-US" sz="3600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600" b="0" i="0" u="none" strike="noStrike" dirty="0">
                  <a:solidFill>
                    <a:srgbClr val="000000"/>
                  </a:solidFill>
                  <a:ea typeface="Pretendard Regular"/>
                </a:rPr>
                <a:t>설명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78900" y="7289800"/>
              <a:ext cx="1206500" cy="660400"/>
            </a:xfrm>
            <a:prstGeom prst="rect">
              <a:avLst/>
            </a:prstGeom>
          </p:spPr>
          <p:txBody>
            <a:bodyPr lIns="0" tIns="3725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2933" b="0" i="0" u="none" strike="noStrike">
                  <a:solidFill>
                    <a:srgbClr val="000000"/>
                  </a:solidFill>
                  <a:latin typeface="S-Core Dream 7 ExtraBold"/>
                </a:rPr>
                <a:t>04p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398C7D-4C97-B687-7E46-A6398C8A6638}"/>
              </a:ext>
            </a:extLst>
          </p:cNvPr>
          <p:cNvGrpSpPr/>
          <p:nvPr/>
        </p:nvGrpSpPr>
        <p:grpSpPr>
          <a:xfrm>
            <a:off x="8890000" y="9448800"/>
            <a:ext cx="13995400" cy="787400"/>
            <a:chOff x="8890000" y="8788400"/>
            <a:chExt cx="13995400" cy="7874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9169400"/>
              <a:ext cx="2463800" cy="254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8890000" y="8788400"/>
              <a:ext cx="1917700" cy="787400"/>
            </a:xfrm>
            <a:prstGeom prst="rect">
              <a:avLst/>
            </a:prstGeom>
          </p:spPr>
          <p:txBody>
            <a:bodyPr lIns="0" tIns="5588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4400" b="0" i="0" u="none" strike="noStrike">
                  <a:solidFill>
                    <a:srgbClr val="000000"/>
                  </a:solidFill>
                  <a:latin typeface="S-Core Dream 7 ExtraBold"/>
                </a:rPr>
                <a:t>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07700" y="8851900"/>
              <a:ext cx="7734300" cy="6350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600" b="0" i="0" u="none" strike="noStrike" dirty="0">
                  <a:solidFill>
                    <a:srgbClr val="000000"/>
                  </a:solidFill>
                  <a:ea typeface="Pretendard Regular"/>
                </a:rPr>
                <a:t>마무리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678900" y="8915400"/>
              <a:ext cx="1206500" cy="635000"/>
            </a:xfrm>
            <a:prstGeom prst="rect">
              <a:avLst/>
            </a:prstGeom>
          </p:spPr>
          <p:txBody>
            <a:bodyPr lIns="0" tIns="3725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" sz="2933" b="0" i="0" u="none" strike="noStrike">
                  <a:solidFill>
                    <a:srgbClr val="000000"/>
                  </a:solidFill>
                  <a:latin typeface="S-Core Dream 7 ExtraBold"/>
                </a:rPr>
                <a:t>16p</a:t>
              </a:r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2070797-31B1-0D67-FB61-0829898425FF}"/>
              </a:ext>
            </a:extLst>
          </p:cNvPr>
          <p:cNvSpPr txBox="1"/>
          <p:nvPr/>
        </p:nvSpPr>
        <p:spPr>
          <a:xfrm>
            <a:off x="10807700" y="4574485"/>
            <a:ext cx="5041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프로젝트 배경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8C7B9C-472B-3208-46EC-F06C7E391F36}"/>
              </a:ext>
            </a:extLst>
          </p:cNvPr>
          <p:cNvSpPr txBox="1"/>
          <p:nvPr/>
        </p:nvSpPr>
        <p:spPr>
          <a:xfrm>
            <a:off x="10807700" y="6274832"/>
            <a:ext cx="50419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프로젝트 소개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기대효과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활용 및 확산 계획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기존 서비스 분석 및 차별성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예상 화면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영화 데이터 분석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개발 환경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E3D3A7-6BC4-2CAA-282B-F891E806690D}"/>
              </a:ext>
            </a:extLst>
          </p:cNvPr>
          <p:cNvSpPr txBox="1"/>
          <p:nvPr/>
        </p:nvSpPr>
        <p:spPr>
          <a:xfrm>
            <a:off x="10807700" y="10363200"/>
            <a:ext cx="5041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결론</a:t>
            </a:r>
            <a:endParaRPr lang="en-US" altLang="ko-KR" sz="2500" dirty="0">
              <a:solidFill>
                <a:schemeClr val="tx1">
                  <a:lumMod val="50000"/>
                  <a:lumOff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5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참고 문헌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7531100"/>
            <a:ext cx="6832600" cy="4381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6642100"/>
            <a:ext cx="7747000" cy="6007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7400" y="1333500"/>
            <a:ext cx="7823200" cy="541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프로젝트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배경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0" y="11874500"/>
            <a:ext cx="9652000" cy="1028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82900" y="7023100"/>
            <a:ext cx="7924800" cy="4851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70000" y="2260600"/>
            <a:ext cx="11036300" cy="4102100"/>
          </a:xfrm>
          <a:prstGeom prst="rect">
            <a:avLst/>
          </a:prstGeom>
        </p:spPr>
        <p:txBody>
          <a:bodyPr lIns="0" tIns="23368" rIns="0" bIns="0" rtlCol="0" anchor="t"/>
          <a:lstStyle/>
          <a:p>
            <a:pPr lvl="0" algn="l">
              <a:lnSpc>
                <a:spcPct val="106240"/>
              </a:lnSpc>
            </a:pP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영화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산업은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높은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제작비와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불확실한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흥행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결과로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투자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리스크가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높다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06240"/>
              </a:lnSpc>
            </a:pP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또한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OTT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플랫폼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확산과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관람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패턴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변화로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 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인해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06240"/>
              </a:lnSpc>
            </a:pP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단순히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배우의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인기나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감독의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유명세만으로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흥행을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예측하기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어려워졌다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06240"/>
              </a:lnSpc>
            </a:pP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이러한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변화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속에서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어떤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영화가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흥행할지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사전에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예측하는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것은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06240"/>
              </a:lnSpc>
            </a:pP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투자자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제작사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배급사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모두에게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매우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중요한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요소가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되었다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06240"/>
              </a:lnSpc>
            </a:pPr>
            <a:br>
              <a:rPr/>
            </a:b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따라서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장르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배우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감독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개봉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시기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등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다양한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변수의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상호작용을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분석하여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영화의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흥행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성과를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예측할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있는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모델을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만드는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것을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목표로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80000"/>
                  </a:srgbClr>
                </a:solidFill>
                <a:ea typeface="Pretendard Regular"/>
              </a:rPr>
              <a:t>한다</a:t>
            </a:r>
            <a:r>
              <a:rPr lang="en-US" sz="3066" b="0" i="0" u="none" strike="noStrike" spc="-184">
                <a:solidFill>
                  <a:srgbClr val="000000">
                    <a:alpha val="80000"/>
                  </a:srgbClr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0351" y="-536575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프로젝트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소개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AF13DDD-076F-4270-E6F9-CDB3514F4356}"/>
              </a:ext>
            </a:extLst>
          </p:cNvPr>
          <p:cNvGrpSpPr/>
          <p:nvPr/>
        </p:nvGrpSpPr>
        <p:grpSpPr>
          <a:xfrm>
            <a:off x="1911349" y="4546600"/>
            <a:ext cx="20612100" cy="5054600"/>
            <a:chOff x="1911349" y="3746500"/>
            <a:chExt cx="20612100" cy="505460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B0D8435-4D1F-162A-FE75-E1CFCDD6CEAD}"/>
                </a:ext>
              </a:extLst>
            </p:cNvPr>
            <p:cNvGrpSpPr/>
            <p:nvPr/>
          </p:nvGrpSpPr>
          <p:grpSpPr>
            <a:xfrm>
              <a:off x="1911349" y="3746500"/>
              <a:ext cx="20612100" cy="5054600"/>
              <a:chOff x="1911349" y="3746500"/>
              <a:chExt cx="20612100" cy="5054600"/>
            </a:xfrm>
          </p:grpSpPr>
          <p:pic>
            <p:nvPicPr>
              <p:cNvPr id="4" name="Picture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0100" y="3746500"/>
                <a:ext cx="5003800" cy="1143000"/>
              </a:xfrm>
              <a:prstGeom prst="rect">
                <a:avLst/>
              </a:prstGeom>
            </p:spPr>
          </p:pic>
          <p:sp>
            <p:nvSpPr>
              <p:cNvPr id="5" name="TextBox 5"/>
              <p:cNvSpPr txBox="1"/>
              <p:nvPr/>
            </p:nvSpPr>
            <p:spPr>
              <a:xfrm>
                <a:off x="1911349" y="6858000"/>
                <a:ext cx="20612100" cy="1943100"/>
              </a:xfrm>
              <a:prstGeom prst="rect">
                <a:avLst/>
              </a:prstGeom>
            </p:spPr>
            <p:txBody>
              <a:bodyPr rtlCol="0" anchor="b"/>
              <a:lstStyle/>
              <a:p>
                <a:pPr lvl="0" algn="ctr">
                  <a:lnSpc>
                    <a:spcPct val="116199"/>
                  </a:lnSpc>
                </a:pP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영화의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핵심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데이터를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입력하면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 err="1">
                    <a:solidFill>
                      <a:srgbClr val="000000"/>
                    </a:solidFill>
                    <a:ea typeface="S-Core Dream 7 ExtraBold"/>
                  </a:rPr>
                  <a:t>머신러닝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모델을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통해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
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예상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흥행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성적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및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관객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선호도를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예측하고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 err="1">
                    <a:solidFill>
                      <a:srgbClr val="000000"/>
                    </a:solidFill>
                    <a:ea typeface="S-Core Dream 7 ExtraBold"/>
                  </a:rPr>
                  <a:t>시각화하는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분석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 </a:t>
                </a:r>
                <a:r>
                  <a:rPr lang="ko-KR" sz="5466" b="0" i="0" u="none" strike="noStrike" dirty="0">
                    <a:solidFill>
                      <a:srgbClr val="000000"/>
                    </a:solidFill>
                    <a:ea typeface="S-Core Dream 7 ExtraBold"/>
                  </a:rPr>
                  <a:t>서비스</a:t>
                </a:r>
                <a:r>
                  <a:rPr lang="en-US" sz="5466" b="0" i="0" u="none" strike="noStrike" dirty="0">
                    <a:solidFill>
                      <a:srgbClr val="000000"/>
                    </a:solidFill>
                    <a:latin typeface="S-Core Dream 7 ExtraBold"/>
                  </a:rPr>
                  <a:t>.
</a:t>
                </a: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0058400" y="3924300"/>
              <a:ext cx="4191000" cy="7112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sz="4001" b="0" i="0" u="none" strike="noStrike" dirty="0">
                  <a:solidFill>
                    <a:srgbClr val="FFFFFF"/>
                  </a:solidFill>
                  <a:ea typeface="Pretendard Regular"/>
                </a:rPr>
                <a:t>영화</a:t>
              </a:r>
              <a:r>
                <a:rPr lang="en-US" sz="4001" b="0" i="0" u="none" strike="noStrike" dirty="0">
                  <a:solidFill>
                    <a:srgbClr val="FFFFFF"/>
                  </a:solidFill>
                  <a:latin typeface="Pretendard Regular"/>
                </a:rPr>
                <a:t> </a:t>
              </a:r>
              <a:r>
                <a:rPr lang="ko-KR" sz="4001" b="0" i="0" u="none" strike="noStrike" dirty="0">
                  <a:solidFill>
                    <a:srgbClr val="FFFFFF"/>
                  </a:solidFill>
                  <a:ea typeface="Pretendard Regular"/>
                </a:rPr>
                <a:t>흥행</a:t>
              </a:r>
              <a:r>
                <a:rPr lang="en-US" sz="4001" b="0" i="0" u="none" strike="noStrike" dirty="0">
                  <a:solidFill>
                    <a:srgbClr val="FFFFFF"/>
                  </a:solidFill>
                  <a:latin typeface="Pretendard Regular"/>
                </a:rPr>
                <a:t> </a:t>
              </a:r>
              <a:r>
                <a:rPr lang="ko-KR" sz="4001" b="0" i="0" u="none" strike="noStrike" dirty="0">
                  <a:solidFill>
                    <a:srgbClr val="FFFFFF"/>
                  </a:solidFill>
                  <a:ea typeface="Pretendard Regular"/>
                </a:rPr>
                <a:t>예측</a:t>
              </a:r>
              <a:r>
                <a:rPr lang="en-US" sz="4001" b="0" i="0" u="none" strike="noStrike" dirty="0">
                  <a:solidFill>
                    <a:srgbClr val="FFFFFF"/>
                  </a:solidFill>
                  <a:latin typeface="Pretendard Regular"/>
                </a:rPr>
                <a:t> </a:t>
              </a:r>
              <a:r>
                <a:rPr lang="ko-KR" sz="4001" b="0" i="0" u="none" strike="noStrike" dirty="0">
                  <a:solidFill>
                    <a:srgbClr val="FFFFFF"/>
                  </a:solidFill>
                  <a:ea typeface="Pretendard Regular"/>
                </a:rPr>
                <a:t>모델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4838700" y="3556000"/>
            <a:ext cx="6921500" cy="3263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2527300"/>
            <a:ext cx="69215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000"/>
          </a:blip>
          <a:stretch>
            <a:fillRect/>
          </a:stretch>
        </p:blipFill>
        <p:spPr>
          <a:xfrm>
            <a:off x="12623800" y="3556000"/>
            <a:ext cx="6921500" cy="326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3800" y="2527300"/>
            <a:ext cx="69215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12623800" y="8623300"/>
            <a:ext cx="6921500" cy="3276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3800" y="7607300"/>
            <a:ext cx="69215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>
            <a:off x="4838700" y="8623300"/>
            <a:ext cx="6921500" cy="327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7607300"/>
            <a:ext cx="6921500" cy="825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74800" y="1295400"/>
            <a:ext cx="21678900" cy="8128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" sz="4000" b="0" i="0" u="none" strike="noStrike">
                <a:solidFill>
                  <a:srgbClr val="000000"/>
                </a:solidFill>
                <a:ea typeface="S-Core Dream 7 ExtraBold"/>
              </a:rPr>
              <a:t>기대효과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67300" y="2654300"/>
            <a:ext cx="6413500" cy="5969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효율적인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배급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77800" y="2654300"/>
            <a:ext cx="6413500" cy="5969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객관성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확보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및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효율성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증대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77800" y="7734300"/>
            <a:ext cx="6413500" cy="5969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산업의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고도화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67300" y="7734300"/>
            <a:ext cx="6413500" cy="5969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투자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대비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수익률</a:t>
            </a:r>
            <a:r>
              <a:rPr lang="en-US" sz="3333" b="0" i="0" u="none" strike="noStrike">
                <a:solidFill>
                  <a:srgbClr val="44CCE5"/>
                </a:solidFill>
                <a:latin typeface="S-Core Dream 5 Medium"/>
              </a:rPr>
              <a:t>(ROI) </a:t>
            </a:r>
            <a:r>
              <a:rPr lang="ko-KR" sz="3333" b="0" i="0" u="none" strike="noStrike">
                <a:solidFill>
                  <a:srgbClr val="44CCE5"/>
                </a:solidFill>
                <a:ea typeface="S-Core Dream 5 Medium"/>
              </a:rPr>
              <a:t>증가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3828FD-6C97-43AC-62D8-E58F5F342E39}"/>
              </a:ext>
            </a:extLst>
          </p:cNvPr>
          <p:cNvGrpSpPr/>
          <p:nvPr/>
        </p:nvGrpSpPr>
        <p:grpSpPr>
          <a:xfrm>
            <a:off x="5448300" y="3733800"/>
            <a:ext cx="13855700" cy="2247900"/>
            <a:chOff x="5448300" y="3898900"/>
            <a:chExt cx="13855700" cy="2247900"/>
          </a:xfrm>
        </p:grpSpPr>
        <p:sp>
          <p:nvSpPr>
            <p:cNvPr id="17" name="TextBox 17"/>
            <p:cNvSpPr txBox="1"/>
            <p:nvPr/>
          </p:nvSpPr>
          <p:spPr>
            <a:xfrm>
              <a:off x="5448300" y="3898900"/>
              <a:ext cx="5702300" cy="2247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예측된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흥행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규모와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선호도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지수를</a:t>
              </a:r>
            </a:p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바탕으로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초기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스크린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배정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마케팅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예산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규모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등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효율적이고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정교한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 </a:t>
              </a:r>
            </a:p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배급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전략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수립을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가능하게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/>
                  </a:solidFill>
                  <a:ea typeface="Pretendard Regular"/>
                </a:rPr>
                <a:t>한다</a:t>
              </a:r>
              <a:r>
                <a:rPr lang="en-US" sz="3066" b="0" i="0" u="none" strike="noStrike" dirty="0">
                  <a:solidFill>
                    <a:srgbClr val="000000"/>
                  </a:solidFill>
                  <a:latin typeface="Pretendard Regular"/>
                </a:rPr>
                <a:t>.
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903200" y="3898900"/>
              <a:ext cx="6400800" cy="2247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직관이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아닌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데이터를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기반으로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한</a:t>
              </a:r>
            </a:p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객관적인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성공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예측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지표를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제공하여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투자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리스크를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최소화하고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, 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의사결정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시간을</a:t>
              </a:r>
            </a:p>
            <a:p>
              <a:pPr lvl="0" algn="ctr">
                <a:lnSpc>
                  <a:spcPct val="141100"/>
                </a:lnSpc>
              </a:pP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단축함으로써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산업적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 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경쟁력을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/>
                  </a:solidFill>
                  <a:ea typeface="Pretendard Regular"/>
                </a:rPr>
                <a:t>강화한다</a:t>
              </a:r>
              <a:r>
                <a:rPr lang="en-US" sz="3066" b="0" i="0" u="none" strike="noStrike">
                  <a:solidFill>
                    <a:srgbClr val="000000"/>
                  </a:solidFill>
                  <a:latin typeface="Pretendard Regular"/>
                </a:rPr>
                <a:t>.
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01600" y="8928100"/>
            <a:ext cx="6565900" cy="1206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41100"/>
              </a:lnSpc>
            </a:pP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산업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전반의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의사결정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 err="1">
                <a:solidFill>
                  <a:srgbClr val="000000"/>
                </a:solidFill>
                <a:ea typeface="Pretendard Regular"/>
              </a:rPr>
              <a:t>확립시켜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산업의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고도화를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가속한다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48275" y="8839200"/>
            <a:ext cx="5969000" cy="2794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41100"/>
              </a:lnSpc>
            </a:pP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성공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가능성이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프로젝트에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자본을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집중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배분함으로써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제작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전반의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대비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수익률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(ROI)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증가시키는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직접적으로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0" i="0" u="none" strike="noStrike" dirty="0">
                <a:solidFill>
                  <a:srgbClr val="000000"/>
                </a:solidFill>
                <a:ea typeface="Pretendard Regular"/>
              </a:rPr>
              <a:t>기여한다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21300" y="-5322062"/>
            <a:ext cx="13741400" cy="244221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205440"/>
              </p:ext>
            </p:extLst>
          </p:nvPr>
        </p:nvGraphicFramePr>
        <p:xfrm>
          <a:off x="2133600" y="3162300"/>
          <a:ext cx="20975320" cy="8726597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844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latin typeface="Pretendard Medium" panose="020B0600000101010101" charset="-127"/>
                          <a:ea typeface="Pretendard Medium" panose="020B0600000101010101" charset="-127"/>
                        </a:rPr>
                        <a:t>예상 사용자</a:t>
                      </a:r>
                      <a:endParaRPr lang="en-US" sz="3000" dirty="0">
                        <a:latin typeface="Pretendard Medium" panose="020B0600000101010101" charset="-127"/>
                        <a:ea typeface="Pretendard Medium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ko-KR" sz="3066" b="0" i="0" u="none" strike="noStrike" dirty="0">
                          <a:solidFill>
                            <a:srgbClr val="FFFFFF"/>
                          </a:solidFill>
                          <a:ea typeface="Pretendard Medium"/>
                        </a:rPr>
                        <a:t>활용</a:t>
                      </a:r>
                      <a:r>
                        <a:rPr lang="en-US" sz="3066" b="0" i="0" u="none" strike="noStrike" dirty="0">
                          <a:solidFill>
                            <a:srgbClr val="FFFFFF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3066" b="0" i="0" u="none" strike="noStrike" dirty="0">
                          <a:solidFill>
                            <a:srgbClr val="FFFFFF"/>
                          </a:solidFill>
                          <a:ea typeface="Pretendard Medium"/>
                        </a:rPr>
                        <a:t>및</a:t>
                      </a:r>
                      <a:r>
                        <a:rPr lang="en-US" sz="3066" b="0" i="0" u="none" strike="noStrike" dirty="0">
                          <a:solidFill>
                            <a:srgbClr val="FFFFFF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3066" b="0" i="0" u="none" strike="noStrike" dirty="0">
                          <a:solidFill>
                            <a:srgbClr val="FFFFFF"/>
                          </a:solidFill>
                          <a:ea typeface="Pretendard Medium"/>
                        </a:rPr>
                        <a:t>확산</a:t>
                      </a:r>
                      <a:r>
                        <a:rPr lang="en-US" sz="3066" b="0" i="0" u="none" strike="noStrike" dirty="0">
                          <a:solidFill>
                            <a:srgbClr val="FFFFFF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3066" b="0" i="0" u="none" strike="noStrike" dirty="0">
                          <a:solidFill>
                            <a:srgbClr val="FFFFFF"/>
                          </a:solidFill>
                          <a:ea typeface="Pretendard Medium"/>
                        </a:rPr>
                        <a:t>계획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843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3333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                투자사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986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3333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                제작사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86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3333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                배급사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활용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및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확산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계획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9FF7BBB8-FF1F-2145-3275-D98A076CB596}"/>
              </a:ext>
            </a:extLst>
          </p:cNvPr>
          <p:cNvGrpSpPr/>
          <p:nvPr/>
        </p:nvGrpSpPr>
        <p:grpSpPr>
          <a:xfrm>
            <a:off x="6908800" y="4527550"/>
            <a:ext cx="15494000" cy="5664200"/>
            <a:chOff x="6540500" y="4527550"/>
            <a:chExt cx="15494000" cy="5664200"/>
          </a:xfrm>
        </p:grpSpPr>
        <p:sp>
          <p:nvSpPr>
            <p:cNvPr id="9" name="TextBox 9"/>
            <p:cNvSpPr txBox="1"/>
            <p:nvPr/>
          </p:nvSpPr>
          <p:spPr>
            <a:xfrm>
              <a:off x="6769100" y="10026650"/>
              <a:ext cx="9613900" cy="165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9400"/>
                </a:lnSpc>
              </a:pP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개봉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전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영화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홍보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전략을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수립하는데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사용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40500" y="7167453"/>
              <a:ext cx="15494000" cy="10922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9400"/>
                </a:lnSpc>
              </a:pP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 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기획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 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단계에서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최적의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장르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-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인력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-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개봉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시기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조합을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 err="1">
                  <a:solidFill>
                    <a:srgbClr val="000000"/>
                  </a:solidFill>
                  <a:ea typeface="Pretendard Regular"/>
                </a:rPr>
                <a:t>시뮬레이션하여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성공적인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제작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전략을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  </a:t>
              </a:r>
            </a:p>
            <a:p>
              <a:pPr lvl="0" algn="l">
                <a:lnSpc>
                  <a:spcPct val="149400"/>
                </a:lnSpc>
              </a:pP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 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수립하는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데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활용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69100" y="4527550"/>
              <a:ext cx="15265400" cy="13589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49400"/>
                </a:lnSpc>
              </a:pPr>
              <a:endParaRPr dirty="0"/>
            </a:p>
            <a:p>
              <a:pPr lvl="0" algn="l">
                <a:lnSpc>
                  <a:spcPct val="149400"/>
                </a:lnSpc>
              </a:pP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초기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단계에서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투자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우선순위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결정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및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손익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분석의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보조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도구로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 </a:t>
              </a:r>
              <a:r>
                <a:rPr lang="ko-KR" sz="3333" b="0" i="0" u="none" strike="noStrike" dirty="0">
                  <a:solidFill>
                    <a:srgbClr val="000000"/>
                  </a:solidFill>
                  <a:ea typeface="Pretendard Regular"/>
                </a:rPr>
                <a:t>사용</a:t>
              </a:r>
              <a:r>
                <a:rPr lang="en-US" sz="3333" b="0" i="0" u="none" strike="noStrike" dirty="0">
                  <a:solidFill>
                    <a:srgbClr val="000000"/>
                  </a:solidFill>
                  <a:latin typeface="Pretendard Regular"/>
                </a:rPr>
                <a:t>.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B2D7CE1-BFF5-31EA-EFA6-BBF31C479B9D}"/>
              </a:ext>
            </a:extLst>
          </p:cNvPr>
          <p:cNvGrpSpPr/>
          <p:nvPr/>
        </p:nvGrpSpPr>
        <p:grpSpPr>
          <a:xfrm>
            <a:off x="2476500" y="4597400"/>
            <a:ext cx="1714500" cy="6777147"/>
            <a:chOff x="1270000" y="4597400"/>
            <a:chExt cx="1714500" cy="6777147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36993D9-32E1-961E-393D-5F79ACFC6544}"/>
                </a:ext>
              </a:extLst>
            </p:cNvPr>
            <p:cNvGrpSpPr/>
            <p:nvPr/>
          </p:nvGrpSpPr>
          <p:grpSpPr>
            <a:xfrm>
              <a:off x="1270000" y="4597400"/>
              <a:ext cx="1714500" cy="1714500"/>
              <a:chOff x="1270000" y="4597400"/>
              <a:chExt cx="1714500" cy="1714500"/>
            </a:xfrm>
          </p:grpSpPr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5">
                <a:alphaModFix amt="7000"/>
              </a:blip>
              <a:stretch>
                <a:fillRect/>
              </a:stretch>
            </p:blipFill>
            <p:spPr>
              <a:xfrm>
                <a:off x="1270000" y="4597400"/>
                <a:ext cx="1714500" cy="1714500"/>
              </a:xfrm>
              <a:prstGeom prst="rect">
                <a:avLst/>
              </a:prstGeom>
            </p:spPr>
          </p:pic>
          <p:pic>
            <p:nvPicPr>
              <p:cNvPr id="13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8600" y="4813300"/>
                <a:ext cx="1270000" cy="1270000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5391363-03E4-E514-92D8-64AEE0CC179C}"/>
                </a:ext>
              </a:extLst>
            </p:cNvPr>
            <p:cNvGrpSpPr/>
            <p:nvPr/>
          </p:nvGrpSpPr>
          <p:grpSpPr>
            <a:xfrm>
              <a:off x="1270000" y="9660047"/>
              <a:ext cx="1714500" cy="1714500"/>
              <a:chOff x="1270000" y="9660047"/>
              <a:chExt cx="1714500" cy="1714500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5">
                <a:alphaModFix amt="7000"/>
              </a:blip>
              <a:stretch>
                <a:fillRect/>
              </a:stretch>
            </p:blipFill>
            <p:spPr>
              <a:xfrm>
                <a:off x="1270000" y="9660047"/>
                <a:ext cx="1714500" cy="1714500"/>
              </a:xfrm>
              <a:prstGeom prst="rect">
                <a:avLst/>
              </a:prstGeom>
            </p:spPr>
          </p:pic>
          <p:pic>
            <p:nvPicPr>
              <p:cNvPr id="15" name="Picture 1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8600" y="9875947"/>
                <a:ext cx="1270000" cy="1270000"/>
              </a:xfrm>
              <a:prstGeom prst="rect">
                <a:avLst/>
              </a:prstGeom>
            </p:spPr>
          </p:pic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3204F99-DD35-D344-0B78-69B73B8DF2F2}"/>
                </a:ext>
              </a:extLst>
            </p:cNvPr>
            <p:cNvGrpSpPr/>
            <p:nvPr/>
          </p:nvGrpSpPr>
          <p:grpSpPr>
            <a:xfrm>
              <a:off x="1270000" y="7062049"/>
              <a:ext cx="1714500" cy="1714500"/>
              <a:chOff x="1270000" y="7062049"/>
              <a:chExt cx="1714500" cy="1714500"/>
            </a:xfrm>
          </p:grpSpPr>
          <p:pic>
            <p:nvPicPr>
              <p:cNvPr id="5" name="Picture 5"/>
              <p:cNvPicPr>
                <a:picLocks noChangeAspect="1"/>
              </p:cNvPicPr>
              <p:nvPr/>
            </p:nvPicPr>
            <p:blipFill>
              <a:blip r:embed="rId8">
                <a:alphaModFix amt="7000"/>
              </a:blip>
              <a:stretch>
                <a:fillRect/>
              </a:stretch>
            </p:blipFill>
            <p:spPr>
              <a:xfrm>
                <a:off x="1270000" y="7062049"/>
                <a:ext cx="1714500" cy="1714500"/>
              </a:xfrm>
              <a:prstGeom prst="rect">
                <a:avLst/>
              </a:prstGeom>
            </p:spPr>
          </p:pic>
          <p:pic>
            <p:nvPicPr>
              <p:cNvPr id="16" name="Picture 1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8600" y="7341449"/>
                <a:ext cx="1270000" cy="1270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-3568700" y="7518400"/>
            <a:ext cx="96901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00" y="2895600"/>
            <a:ext cx="3898900" cy="2527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900" y="2692400"/>
            <a:ext cx="10109200" cy="2933700"/>
          </a:xfrm>
          <a:prstGeom prst="rect">
            <a:avLst/>
          </a:prstGeom>
          <a:effectLst>
            <a:outerShdw blurRad="102882" dist="113057" dir="5400000">
              <a:srgbClr val="CDD9ED">
                <a:alpha val="41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6235700" y="3721100"/>
            <a:ext cx="9791700" cy="1701800"/>
          </a:xfrm>
          <a:prstGeom prst="rect">
            <a:avLst/>
          </a:prstGeom>
        </p:spPr>
        <p:txBody>
          <a:bodyPr lIns="0" tIns="486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대본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내용을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수치화하여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흥행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가능성을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예측하는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상업적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AI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시스템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특정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장면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구성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유형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감정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변화를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계산해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수익성을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예측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감독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/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배우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/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개봉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시기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등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외적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요소는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분석에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포함되지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않음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6578600"/>
            <a:ext cx="3898900" cy="193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900" y="6057900"/>
            <a:ext cx="10109200" cy="2933700"/>
          </a:xfrm>
          <a:prstGeom prst="rect">
            <a:avLst/>
          </a:prstGeom>
          <a:effectLst>
            <a:outerShdw blurRad="102882" dist="113057" dir="5400000">
              <a:srgbClr val="CDD9ED">
                <a:alpha val="41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6235700" y="6019800"/>
            <a:ext cx="9194800" cy="990600"/>
          </a:xfrm>
          <a:prstGeom prst="rect">
            <a:avLst/>
          </a:prstGeom>
        </p:spPr>
        <p:txBody>
          <a:bodyPr lIns="0" tIns="0" rIns="0" bIns="63500" rtlCol="0" anchor="b"/>
          <a:lstStyle/>
          <a:p>
            <a:pPr lvl="0" algn="l">
              <a:lnSpc>
                <a:spcPct val="95449"/>
              </a:lnSpc>
            </a:pPr>
            <a:r>
              <a:rPr lang="en" sz="3357" b="0" i="0" u="none" strike="noStrike" spc="-200">
                <a:solidFill>
                  <a:srgbClr val="3958E3"/>
                </a:solidFill>
                <a:latin typeface="Pretendard Bold"/>
              </a:rPr>
              <a:t>Vault ML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35700" y="7099300"/>
            <a:ext cx="9182100" cy="1600200"/>
          </a:xfrm>
          <a:prstGeom prst="rect">
            <a:avLst/>
          </a:prstGeom>
        </p:spPr>
        <p:txBody>
          <a:bodyPr lIns="0" tIns="486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" sz="2461" b="0" i="0" u="none" strike="noStrike" spc="-148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대본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구조와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인물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관계를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분석하여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성공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확률을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예측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텍스트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기반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자연어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처리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기술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중심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기획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초기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단계에서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활용하기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어려움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600" y="9601200"/>
            <a:ext cx="4038600" cy="261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900" y="9436100"/>
            <a:ext cx="10109200" cy="2933700"/>
          </a:xfrm>
          <a:prstGeom prst="rect">
            <a:avLst/>
          </a:prstGeom>
          <a:effectLst>
            <a:outerShdw blurRad="102882" dist="113057" dir="5400000">
              <a:srgbClr val="CDD9ED">
                <a:alpha val="41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6235700" y="9385300"/>
            <a:ext cx="9194800" cy="990600"/>
          </a:xfrm>
          <a:prstGeom prst="rect">
            <a:avLst/>
          </a:prstGeom>
        </p:spPr>
        <p:txBody>
          <a:bodyPr lIns="0" tIns="0" rIns="0" bIns="63500" rtlCol="0" anchor="b"/>
          <a:lstStyle/>
          <a:p>
            <a:pPr lvl="0" algn="l">
              <a:lnSpc>
                <a:spcPct val="95449"/>
              </a:lnSpc>
            </a:pPr>
            <a:r>
              <a:rPr lang="en" sz="3357" b="0" i="0" u="none" strike="noStrike" spc="-200">
                <a:solidFill>
                  <a:srgbClr val="3958E3"/>
                </a:solidFill>
                <a:latin typeface="Pretendard Bold"/>
              </a:rPr>
              <a:t>ScriptBook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35700" y="10477500"/>
            <a:ext cx="9182100" cy="1435100"/>
          </a:xfrm>
          <a:prstGeom prst="rect">
            <a:avLst/>
          </a:prstGeom>
        </p:spPr>
        <p:txBody>
          <a:bodyPr lIns="0" tIns="486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대본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분석을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통해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예상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관객층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및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흥행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점수를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제공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스토리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기반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예측에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최적화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된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구조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메타데이터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기반의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시장적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요소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반영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066" b="0" i="0" u="none" strike="noStrike" spc="-184">
                <a:solidFill>
                  <a:srgbClr val="000000">
                    <a:alpha val="58824"/>
                  </a:srgbClr>
                </a:solidFill>
                <a:ea typeface="Pretendard Medium"/>
              </a:rPr>
              <a:t>제한됨</a:t>
            </a:r>
            <a:r>
              <a:rPr lang="en-US" sz="3066" b="0" i="0" u="none" strike="noStrike" spc="-184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기존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서비스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차별성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35700" y="2692400"/>
            <a:ext cx="10960100" cy="952500"/>
          </a:xfrm>
          <a:prstGeom prst="rect">
            <a:avLst/>
          </a:prstGeom>
        </p:spPr>
        <p:txBody>
          <a:bodyPr lIns="0" tIns="0" rIns="0" bIns="63500" rtlCol="0" anchor="b"/>
          <a:lstStyle/>
          <a:p>
            <a:pPr lvl="0" algn="l">
              <a:lnSpc>
                <a:spcPct val="95449"/>
              </a:lnSpc>
            </a:pPr>
            <a:r>
              <a:rPr lang="en" sz="4000" b="0" i="0" u="none" strike="noStrike" spc="-240">
                <a:solidFill>
                  <a:srgbClr val="3958E3"/>
                </a:solidFill>
                <a:latin typeface="Pretendard Bold"/>
              </a:rPr>
              <a:t>Epagogix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2500" y="5156200"/>
            <a:ext cx="5232400" cy="2667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32200" y="8242300"/>
            <a:ext cx="7505700" cy="3670300"/>
          </a:xfrm>
          <a:prstGeom prst="rect">
            <a:avLst/>
          </a:prstGeom>
          <a:effectLst>
            <a:outerShdw blurRad="128666" dist="141391" dir="5400000">
              <a:srgbClr val="CDD9ED">
                <a:alpha val="41000"/>
              </a:srgbClr>
            </a:outerShdw>
          </a:effectLst>
        </p:spPr>
      </p:pic>
      <p:sp>
        <p:nvSpPr>
          <p:cNvPr id="23" name="TextBox 23"/>
          <p:cNvSpPr txBox="1"/>
          <p:nvPr/>
        </p:nvSpPr>
        <p:spPr>
          <a:xfrm>
            <a:off x="16789400" y="8547100"/>
            <a:ext cx="6705600" cy="3136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또한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넷플릭스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·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왓챠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등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OTT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플랫폼에서도</a:t>
            </a:r>
          </a:p>
          <a:p>
            <a:pPr lvl="0" algn="l">
              <a:lnSpc>
                <a:spcPct val="99600"/>
              </a:lnSpc>
            </a:pP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사용자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취향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분석을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위한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콘텐츠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추천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알고리즘이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운영되고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있으나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, </a:t>
            </a:r>
          </a:p>
          <a:p>
            <a:pPr lvl="0" algn="l">
              <a:lnSpc>
                <a:spcPct val="99600"/>
              </a:lnSpc>
            </a:pP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이는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소비자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추천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목적이며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영화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제작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또는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투자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단계에서의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흥행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예측을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제공하지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118" b="0" i="0" u="none" strike="noStrike" spc="-187">
                <a:solidFill>
                  <a:srgbClr val="000000">
                    <a:alpha val="47843"/>
                  </a:srgbClr>
                </a:solidFill>
                <a:ea typeface="Pretendard Regular"/>
              </a:rPr>
              <a:t>않는다</a:t>
            </a:r>
            <a:r>
              <a:rPr lang="en-US" sz="3118" b="0" i="0" u="none" strike="noStrike" spc="-187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.
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46600" y="3162300"/>
            <a:ext cx="548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00" y="2425700"/>
            <a:ext cx="16560800" cy="1524000"/>
          </a:xfrm>
          <a:prstGeom prst="rect">
            <a:avLst/>
          </a:prstGeom>
          <a:effectLst>
            <a:outerShdw blurRad="53340" dist="58615" dir="5400000">
              <a:srgbClr val="CDD9ED">
                <a:alpha val="41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4140200" y="2743200"/>
            <a:ext cx="15684500" cy="9017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 spc="-240">
                <a:solidFill>
                  <a:srgbClr val="2E3D86"/>
                </a:solidFill>
                <a:ea typeface="Pretendard Bold"/>
              </a:rPr>
              <a:t>기존</a:t>
            </a:r>
            <a:r>
              <a:rPr lang="en-US" sz="4000" b="0" i="0" u="none" strike="noStrike" spc="-240">
                <a:solidFill>
                  <a:srgbClr val="2E3D86"/>
                </a:solidFill>
                <a:latin typeface="Pretendard Bold"/>
              </a:rPr>
              <a:t> </a:t>
            </a:r>
            <a:r>
              <a:rPr lang="ko-KR" sz="4000" b="0" i="0" u="none" strike="noStrike" spc="-240">
                <a:solidFill>
                  <a:srgbClr val="2E3D86"/>
                </a:solidFill>
                <a:ea typeface="Pretendard Bold"/>
              </a:rPr>
              <a:t>서비스와의</a:t>
            </a:r>
            <a:r>
              <a:rPr lang="en-US" sz="4000" b="0" i="0" u="none" strike="noStrike" spc="-240">
                <a:solidFill>
                  <a:srgbClr val="2E3D86"/>
                </a:solidFill>
                <a:latin typeface="Pretendard Bold"/>
              </a:rPr>
              <a:t> </a:t>
            </a:r>
            <a:r>
              <a:rPr lang="ko-KR" sz="4000" b="0" i="0" u="none" strike="noStrike" spc="-240">
                <a:solidFill>
                  <a:srgbClr val="2E3D86"/>
                </a:solidFill>
                <a:ea typeface="Pretendard Bold"/>
              </a:rPr>
              <a:t>차별성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432300"/>
            <a:ext cx="5295900" cy="8255000"/>
          </a:xfrm>
          <a:prstGeom prst="rect">
            <a:avLst/>
          </a:prstGeom>
          <a:effectLst>
            <a:outerShdw blurRad="185364" dist="203697" dir="5400000">
              <a:srgbClr val="CDD9ED">
                <a:alpha val="41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 rot="-10800000">
            <a:off x="3949700" y="6045200"/>
            <a:ext cx="47879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86200" y="4622800"/>
            <a:ext cx="4902200" cy="12065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메타데이터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기반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예측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시스템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8900" y="6286500"/>
            <a:ext cx="4902200" cy="46863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대본이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없는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상태에서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장르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배우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감독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개봉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시기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등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영화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기획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시점에서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가장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먼저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결정되는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요소만으로</a:t>
            </a: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흥행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·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선호도를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예측할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수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있는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시스템이다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
</a:t>
            </a:r>
          </a:p>
          <a:p>
            <a:pPr lvl="0" algn="ctr">
              <a:lnSpc>
                <a:spcPct val="99600"/>
              </a:lnSpc>
            </a:pPr>
            <a:endParaRPr lang="en-US" sz="2933" spc="-176" dirty="0">
              <a:solidFill>
                <a:srgbClr val="000000">
                  <a:alpha val="58824"/>
                </a:srgbClr>
              </a:solidFill>
              <a:latin typeface="Pretendard Medium"/>
            </a:endParaRPr>
          </a:p>
          <a:p>
            <a:pPr lvl="0" algn="ctr">
              <a:lnSpc>
                <a:spcPct val="99600"/>
              </a:lnSpc>
            </a:pPr>
            <a:endParaRPr lang="en-US" sz="2933" spc="-176" dirty="0">
              <a:solidFill>
                <a:srgbClr val="000000">
                  <a:alpha val="58824"/>
                </a:srgbClr>
              </a:solidFill>
              <a:latin typeface="Pretendard Medium"/>
            </a:endParaRP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
▷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기획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초기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단계에서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활용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가능하다는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점이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가장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큰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차별성이다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800" y="4419600"/>
            <a:ext cx="5295900" cy="8255000"/>
          </a:xfrm>
          <a:prstGeom prst="rect">
            <a:avLst/>
          </a:prstGeom>
          <a:effectLst>
            <a:outerShdw blurRad="185364" dist="203697" dir="5400000">
              <a:srgbClr val="CDD9ED">
                <a:alpha val="41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 rot="-10800000">
            <a:off x="9575800" y="6032500"/>
            <a:ext cx="47879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512300" y="4610100"/>
            <a:ext cx="4902200" cy="12065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계절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·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시장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트렌드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기반의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예측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0" y="6273800"/>
            <a:ext cx="5054600" cy="41021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“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여름에는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공포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장르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성과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상승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”,
“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명절에는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가족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·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코미디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장르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성과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상승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”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과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같은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계절별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흥행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패턴을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 err="1">
                <a:solidFill>
                  <a:srgbClr val="000000">
                    <a:alpha val="58824"/>
                  </a:srgbClr>
                </a:solidFill>
                <a:ea typeface="Pretendard Medium"/>
              </a:rPr>
              <a:t>머신러닝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모델에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반영한다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
</a:t>
            </a:r>
          </a:p>
          <a:p>
            <a:pPr lvl="0" algn="ctr">
              <a:lnSpc>
                <a:spcPct val="99600"/>
              </a:lnSpc>
            </a:pPr>
            <a:endParaRPr lang="en-US" sz="2933" spc="-176" dirty="0">
              <a:solidFill>
                <a:srgbClr val="000000">
                  <a:alpha val="58824"/>
                </a:srgbClr>
              </a:solidFill>
              <a:latin typeface="Pretendard Medium"/>
            </a:endParaRPr>
          </a:p>
          <a:p>
            <a:pPr lvl="0" algn="ctr">
              <a:lnSpc>
                <a:spcPct val="99600"/>
              </a:lnSpc>
            </a:pPr>
            <a:endParaRPr lang="en-US" sz="2933" b="0" i="0" u="none" strike="noStrike" spc="-176" dirty="0">
              <a:solidFill>
                <a:srgbClr val="000000">
                  <a:alpha val="58824"/>
                </a:srgbClr>
              </a:solidFill>
              <a:latin typeface="Pretendard Medium"/>
            </a:endParaRPr>
          </a:p>
          <a:p>
            <a:pPr lvl="0" algn="ctr">
              <a:lnSpc>
                <a:spcPct val="99600"/>
              </a:lnSpc>
            </a:pPr>
            <a:endParaRPr lang="en-US" sz="2933" spc="-176" dirty="0">
              <a:solidFill>
                <a:srgbClr val="000000">
                  <a:alpha val="58824"/>
                </a:srgbClr>
              </a:solidFill>
              <a:latin typeface="Pretendard Medium"/>
            </a:endParaRP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
▷ </a:t>
            </a:r>
            <a:r>
              <a:rPr lang="ko-KR" sz="2933" b="0" i="0" u="none" strike="noStrike" spc="-176" dirty="0" err="1">
                <a:solidFill>
                  <a:srgbClr val="000000">
                    <a:alpha val="58824"/>
                  </a:srgbClr>
                </a:solidFill>
                <a:ea typeface="Pretendard Medium"/>
              </a:rPr>
              <a:t>기존에는시도하지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않은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접근으로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실제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산업적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판단에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중요한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요인을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 dirty="0">
                <a:solidFill>
                  <a:srgbClr val="000000">
                    <a:alpha val="58824"/>
                  </a:srgbClr>
                </a:solidFill>
                <a:ea typeface="Pretendard Medium"/>
              </a:rPr>
              <a:t>포함한다</a:t>
            </a:r>
            <a:r>
              <a:rPr lang="en-US" sz="2933" b="0" i="0" u="none" strike="noStrike" spc="-176" dirty="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
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0600" y="4381500"/>
            <a:ext cx="5295900" cy="8255000"/>
          </a:xfrm>
          <a:prstGeom prst="rect">
            <a:avLst/>
          </a:prstGeom>
          <a:effectLst>
            <a:outerShdw blurRad="185364" dist="203697" dir="5400000">
              <a:srgbClr val="CDD9ED">
                <a:alpha val="41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 rot="-10800000">
            <a:off x="15214600" y="5994400"/>
            <a:ext cx="4787900" cy="1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5151100" y="4648200"/>
            <a:ext cx="4902200" cy="10541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배우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·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감독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조합의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상호작용</a:t>
            </a:r>
            <a:r>
              <a:rPr lang="en-US" sz="3200" b="0" i="0" u="none" strike="noStrike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3200" b="0" i="0" u="none" strike="noStrike">
                <a:solidFill>
                  <a:srgbClr val="3958E3"/>
                </a:solidFill>
                <a:ea typeface="S-Core Dream 5 Medium"/>
              </a:rPr>
              <a:t>반영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63800" y="6235700"/>
            <a:ext cx="4902200" cy="55753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LightGBM, XGBoost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등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머신러닝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모델을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활용해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배우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·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감독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·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장르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·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시기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간의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다중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상호작용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효과를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분석한다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
■ A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배우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+ B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감독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조합의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상대적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강점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■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특정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배우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조합이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특정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장르에서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강세인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패턴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
▷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기존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시스템보다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더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정교한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데이터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기반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모델을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933" b="0" i="0" u="none" strike="noStrike" spc="-176">
                <a:solidFill>
                  <a:srgbClr val="000000">
                    <a:alpha val="58824"/>
                  </a:srgbClr>
                </a:solidFill>
                <a:ea typeface="Pretendard Medium"/>
              </a:rPr>
              <a:t>제공함</a:t>
            </a:r>
            <a:r>
              <a:rPr lang="en-US" sz="2933" b="0" i="0" u="none" strike="noStrike" spc="-176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기존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서비스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및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차별성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-16200000">
            <a:off x="5346700" y="-536575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00" y="2540000"/>
            <a:ext cx="4610100" cy="932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530" y="2959100"/>
            <a:ext cx="4610100" cy="932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74800" y="1295400"/>
            <a:ext cx="21678900" cy="838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예상</a:t>
            </a:r>
            <a:r>
              <a:rPr lang="en-US" sz="4000" b="0" i="0" u="none" strike="noStrike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S-Core Dream 7 ExtraBold"/>
              </a:rPr>
              <a:t>화면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105197"/>
              </p:ext>
            </p:extLst>
          </p:nvPr>
        </p:nvGraphicFramePr>
        <p:xfrm>
          <a:off x="12217400" y="3314700"/>
          <a:ext cx="11337980" cy="3727934"/>
        </p:xfrm>
        <a:graphic>
          <a:graphicData uri="http://schemas.openxmlformats.org/drawingml/2006/table">
            <a:tbl>
              <a:tblPr/>
              <a:tblGrid>
                <a:gridCol w="271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1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97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장르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주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/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부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장르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(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다중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선택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),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장르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간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조합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06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인력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주연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배우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감독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각본가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
(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과거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필모그래피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수상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경력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평균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ROI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등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정량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지표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변환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).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33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개봉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시기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개봉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예정일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(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요일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월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계절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명절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/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공휴일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특수성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반영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).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33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제작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변수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(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선택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제작비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배급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규모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스크린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수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 dirty="0">
                          <a:solidFill>
                            <a:srgbClr val="000000"/>
                          </a:solidFill>
                          <a:ea typeface="Pretendard Medium"/>
                        </a:rPr>
                        <a:t>예상치</a:t>
                      </a: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Pretendard Medium"/>
                        </a:rPr>
                        <a:t>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2166600" y="9144000"/>
          <a:ext cx="11337980" cy="2741176"/>
        </p:xfrm>
        <a:graphic>
          <a:graphicData uri="http://schemas.openxmlformats.org/drawingml/2006/table">
            <a:tbl>
              <a:tblPr/>
              <a:tblGrid>
                <a:gridCol w="271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1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97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흥행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예측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예상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흥행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수익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예상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최종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관객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수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(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수치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및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범위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).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06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리스크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지표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예측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결과의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오차율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(RMSE)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또는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성공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/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실패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확률을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기반으로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산출된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투자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리스크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레벨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(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낮음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/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보통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/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높음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33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선호도</a:t>
                      </a:r>
                      <a:r>
                        <a:rPr lang="en-US" sz="2666" b="1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1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지수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예측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관객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선호도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지수</a:t>
                      </a: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(0~100).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2293600" y="8026400"/>
            <a:ext cx="9194800" cy="762000"/>
          </a:xfrm>
          <a:prstGeom prst="rect">
            <a:avLst/>
          </a:prstGeom>
        </p:spPr>
        <p:txBody>
          <a:bodyPr lIns="0" tIns="0" rIns="0" bIns="53293" rtlCol="0" anchor="b"/>
          <a:lstStyle/>
          <a:p>
            <a:pPr lvl="0" algn="l">
              <a:lnSpc>
                <a:spcPct val="95449"/>
              </a:lnSpc>
            </a:pPr>
            <a:r>
              <a:rPr lang="ko-KR" sz="3357" b="0" i="0" u="none" strike="noStrike" spc="-200" dirty="0">
                <a:solidFill>
                  <a:srgbClr val="000000"/>
                </a:solidFill>
                <a:ea typeface="Pretendard Bold"/>
              </a:rPr>
              <a:t>주요</a:t>
            </a:r>
            <a:r>
              <a:rPr lang="en-US" sz="3357" b="0" i="0" u="none" strike="noStrike" spc="-200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57" b="0" i="0" u="none" strike="noStrike" spc="-200" dirty="0">
                <a:solidFill>
                  <a:srgbClr val="000000"/>
                </a:solidFill>
                <a:ea typeface="Pretendard Bold"/>
              </a:rPr>
              <a:t>출력</a:t>
            </a:r>
            <a:r>
              <a:rPr lang="en-US" sz="3357" b="0" i="0" u="none" strike="noStrike" spc="-200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57" b="0" i="0" u="none" strike="noStrike" spc="-200" dirty="0">
                <a:solidFill>
                  <a:srgbClr val="000000"/>
                </a:solidFill>
                <a:ea typeface="Pretendard Bold"/>
              </a:rPr>
              <a:t>요소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44400" y="2159000"/>
            <a:ext cx="9194800" cy="762000"/>
          </a:xfrm>
          <a:prstGeom prst="rect">
            <a:avLst/>
          </a:prstGeom>
        </p:spPr>
        <p:txBody>
          <a:bodyPr lIns="0" tIns="0" rIns="0" bIns="53293" rtlCol="0" anchor="b"/>
          <a:lstStyle/>
          <a:p>
            <a:pPr lvl="0" algn="l">
              <a:lnSpc>
                <a:spcPct val="95449"/>
              </a:lnSpc>
            </a:pPr>
            <a:r>
              <a:rPr lang="ko-KR" sz="3357" b="0" i="0" u="none" strike="noStrike" spc="-200">
                <a:solidFill>
                  <a:srgbClr val="000000"/>
                </a:solidFill>
                <a:ea typeface="Pretendard Bold"/>
              </a:rPr>
              <a:t>주요</a:t>
            </a:r>
            <a:r>
              <a:rPr lang="en-US" sz="3357" b="0" i="0" u="none" strike="noStrike" spc="-2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57" b="0" i="0" u="none" strike="noStrike" spc="-200">
                <a:solidFill>
                  <a:srgbClr val="000000"/>
                </a:solidFill>
                <a:ea typeface="Pretendard Bold"/>
              </a:rPr>
              <a:t>입력</a:t>
            </a:r>
            <a:r>
              <a:rPr lang="en-US" sz="3357" b="0" i="0" u="none" strike="noStrike" spc="-2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57" b="0" i="0" u="none" strike="noStrike" spc="-200">
                <a:solidFill>
                  <a:srgbClr val="000000"/>
                </a:solidFill>
                <a:ea typeface="Pretendard Bold"/>
              </a:rPr>
              <a:t>요소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2667000"/>
            <a:ext cx="4292600" cy="9105900"/>
          </a:xfrm>
          <a:prstGeom prst="rect">
            <a:avLst/>
          </a:prstGeom>
          <a:effectLst>
            <a:outerShdw blurRad="150139" dist="164988" dir="5400000">
              <a:srgbClr val="CDD9ED">
                <a:alpha val="41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6700" y="9893300"/>
            <a:ext cx="2908300" cy="660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0500" y="8775700"/>
            <a:ext cx="3022600" cy="520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800" y="5041900"/>
            <a:ext cx="30226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717800" y="4457700"/>
            <a:ext cx="850900" cy="317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00" b="1" i="0" u="none" strike="noStrike">
                <a:solidFill>
                  <a:srgbClr val="000000"/>
                </a:solidFill>
                <a:ea typeface="S-Core Dream 3 Light"/>
              </a:rPr>
              <a:t>장르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17800" y="5410200"/>
            <a:ext cx="1282700" cy="317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797" b="1" i="0" u="none" strike="noStrike">
                <a:solidFill>
                  <a:srgbClr val="000000"/>
                </a:solidFill>
                <a:ea typeface="S-Core Dream 3 Light"/>
              </a:rPr>
              <a:t>감독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17800" y="6362700"/>
            <a:ext cx="1397000" cy="317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주연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배우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17800" y="7277100"/>
            <a:ext cx="2108200" cy="317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>
                <a:solidFill>
                  <a:srgbClr val="000000"/>
                </a:solidFill>
                <a:ea typeface="S-Core Dream 3 Light"/>
              </a:rPr>
              <a:t>제작</a:t>
            </a:r>
            <a:r>
              <a:rPr lang="en-US" sz="1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1" i="0" u="none" strike="noStrike">
                <a:solidFill>
                  <a:srgbClr val="000000"/>
                </a:solidFill>
                <a:ea typeface="S-Core Dream 3 Light"/>
              </a:rPr>
              <a:t>변수</a:t>
            </a:r>
            <a:r>
              <a:rPr lang="en-US" sz="1800" b="1" i="0" u="none" strike="noStrike">
                <a:solidFill>
                  <a:srgbClr val="000000"/>
                </a:solidFill>
                <a:latin typeface="S-Core Dream 3 Light"/>
              </a:rPr>
              <a:t> (</a:t>
            </a:r>
            <a:r>
              <a:rPr lang="ko-KR" sz="1800" b="1" i="0" u="none" strike="noStrike">
                <a:solidFill>
                  <a:srgbClr val="000000"/>
                </a:solidFill>
                <a:ea typeface="S-Core Dream 3 Light"/>
              </a:rPr>
              <a:t>선택</a:t>
            </a:r>
            <a:r>
              <a:rPr lang="en-US" sz="1800" b="1" i="0" u="none" strike="noStrike">
                <a:solidFill>
                  <a:srgbClr val="000000"/>
                </a:solidFill>
                <a:latin typeface="S-Core Dream 3 Light"/>
              </a:rPr>
              <a:t>)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800" y="5956300"/>
            <a:ext cx="3022600" cy="50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800" y="6870700"/>
            <a:ext cx="3022600" cy="50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5900" y="7835900"/>
            <a:ext cx="3022600" cy="50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806700" y="8877300"/>
            <a:ext cx="2933700" cy="317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  ----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년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      --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월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       --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92400" y="8280400"/>
            <a:ext cx="1149350" cy="304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800" b="1" i="0" u="none" strike="noStrike" dirty="0">
                <a:solidFill>
                  <a:srgbClr val="000000"/>
                </a:solidFill>
                <a:ea typeface="S-Core Dream 3 Light"/>
              </a:rPr>
              <a:t>개봉일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02000" y="10058400"/>
            <a:ext cx="2413000" cy="203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dirty="0">
                <a:solidFill>
                  <a:srgbClr val="FFFFFF"/>
                </a:solidFill>
                <a:ea typeface="S-Core Dream 3 Light"/>
              </a:rPr>
              <a:t>예상</a:t>
            </a:r>
            <a:r>
              <a:rPr lang="en-US" sz="1800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FFFFFF"/>
                </a:solidFill>
                <a:ea typeface="S-Core Dream 3 Light"/>
              </a:rPr>
              <a:t>흥행</a:t>
            </a:r>
            <a:r>
              <a:rPr lang="en-US" sz="1800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FFFFFF"/>
                </a:solidFill>
                <a:ea typeface="S-Core Dream 3 Light"/>
              </a:rPr>
              <a:t>확인하기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3500" y="3213100"/>
            <a:ext cx="876300" cy="685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9030" y="3048000"/>
            <a:ext cx="4254500" cy="9093200"/>
          </a:xfrm>
          <a:prstGeom prst="rect">
            <a:avLst/>
          </a:prstGeom>
          <a:effectLst>
            <a:outerShdw blurRad="149008" dist="163745" dir="5400000">
              <a:srgbClr val="CDD9ED">
                <a:alpha val="41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6230" y="3517900"/>
            <a:ext cx="876300" cy="685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610530" y="4498975"/>
            <a:ext cx="1752600" cy="381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흥행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예측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10530" y="9709150"/>
            <a:ext cx="1612900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선호도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지수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7330" y="10160000"/>
            <a:ext cx="3492500" cy="1346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1330" y="10299700"/>
            <a:ext cx="1054100" cy="10541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9248830" y="10388600"/>
            <a:ext cx="22733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923" b="1" i="0" u="none" strike="noStrike" dirty="0">
                <a:solidFill>
                  <a:srgbClr val="FFFFFF"/>
                </a:solidFill>
                <a:latin typeface="S-Core Dream 4 Regular"/>
              </a:rPr>
              <a:t>95%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7330" y="7581900"/>
            <a:ext cx="3492500" cy="19939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7597830" y="7721600"/>
            <a:ext cx="3022600" cy="170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예측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RMSE: 0.12 </a:t>
            </a:r>
          </a:p>
          <a:p>
            <a:pPr lvl="0" algn="l">
              <a:lnSpc>
                <a:spcPct val="116199"/>
              </a:lnSpc>
            </a:pP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(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오차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거의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없음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)</a:t>
            </a:r>
          </a:p>
          <a:p>
            <a:pPr lvl="0" algn="l">
              <a:lnSpc>
                <a:spcPct val="116199"/>
              </a:lnSpc>
            </a:pPr>
            <a:br>
              <a:rPr dirty="0"/>
            </a:b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흥행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성공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확률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: 87%</a:t>
            </a:r>
          </a:p>
          <a:p>
            <a:pPr lvl="0" algn="l">
              <a:lnSpc>
                <a:spcPct val="116199"/>
              </a:lnSpc>
            </a:pPr>
            <a:br>
              <a:rPr dirty="0"/>
            </a:b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투자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리스크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레벨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: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낮음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10530" y="7139686"/>
            <a:ext cx="1776984" cy="325628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리스크</a:t>
            </a:r>
            <a:r>
              <a:rPr lang="en-US" sz="1800" b="1" i="0" u="none" strike="noStrike" dirty="0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S-Core Dream 3 Light"/>
              </a:rPr>
              <a:t>지표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07330" y="4965700"/>
            <a:ext cx="3492500" cy="19939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7597830" y="5105400"/>
            <a:ext cx="3924300" cy="1447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예상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금액</a:t>
            </a:r>
          </a:p>
          <a:p>
            <a:pPr lvl="0" algn="l">
              <a:lnSpc>
                <a:spcPct val="116199"/>
              </a:lnSpc>
            </a:pPr>
            <a:r>
              <a:rPr lang="en" sz="1598" b="1" i="0" u="none" strike="noStrike" dirty="0">
                <a:solidFill>
                  <a:srgbClr val="FFFFFF"/>
                </a:solidFill>
                <a:latin typeface="S-Core Dream 3 Light"/>
              </a:rPr>
              <a:t>94,726,658,836 ~</a:t>
            </a:r>
          </a:p>
          <a:p>
            <a:pPr lvl="0" algn="l">
              <a:lnSpc>
                <a:spcPct val="116199"/>
              </a:lnSpc>
            </a:pPr>
            <a:r>
              <a:rPr lang="en" sz="1598" b="1" i="0" u="none" strike="noStrike" dirty="0">
                <a:solidFill>
                  <a:srgbClr val="FFFFFF"/>
                </a:solidFill>
                <a:latin typeface="S-Core Dream 3 Light"/>
              </a:rPr>
              <a:t>120,627,373,510</a:t>
            </a:r>
          </a:p>
          <a:p>
            <a:pPr lvl="0" algn="l">
              <a:lnSpc>
                <a:spcPct val="116199"/>
              </a:lnSpc>
            </a:pPr>
            <a:endParaRPr lang="en" sz="1598" b="1" i="0" u="none" strike="noStrike" dirty="0">
              <a:solidFill>
                <a:srgbClr val="FFFFFF"/>
              </a:solidFill>
              <a:latin typeface="S-Core Dream 3 Light"/>
            </a:endParaRPr>
          </a:p>
          <a:p>
            <a:pPr lvl="0" algn="l">
              <a:lnSpc>
                <a:spcPct val="116199"/>
              </a:lnSpc>
            </a:pP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예상</a:t>
            </a:r>
            <a:r>
              <a:rPr lang="en-US" sz="1598" b="1" i="0" u="none" strike="noStrike" dirty="0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1598" b="1" i="0" u="none" strike="noStrike" dirty="0">
                <a:solidFill>
                  <a:srgbClr val="FFFFFF"/>
                </a:solidFill>
                <a:ea typeface="S-Core Dream 3 Light"/>
              </a:rPr>
              <a:t>관객수</a:t>
            </a:r>
          </a:p>
          <a:p>
            <a:pPr lvl="0" algn="l">
              <a:lnSpc>
                <a:spcPct val="116199"/>
              </a:lnSpc>
            </a:pPr>
            <a:r>
              <a:rPr lang="en" sz="1598" b="1" i="0" u="none" strike="noStrike" dirty="0">
                <a:solidFill>
                  <a:srgbClr val="FFFFFF"/>
                </a:solidFill>
                <a:latin typeface="S-Core Dream 3 Light"/>
              </a:rPr>
              <a:t>10,889,036 ~ 15,539,489
</a:t>
            </a:r>
          </a:p>
          <a:p>
            <a:pPr lvl="0" algn="l">
              <a:lnSpc>
                <a:spcPct val="116199"/>
              </a:lnSpc>
            </a:pPr>
            <a:endParaRPr lang="en" sz="1598" b="1" i="0" u="none" strike="noStrike" dirty="0">
              <a:solidFill>
                <a:srgbClr val="FFFFFF"/>
              </a:solidFill>
              <a:latin typeface="S-Core Dream 3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02250" y="-534035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DC5E703F-BAB7-9DA4-95D5-2E0668A6BB25}"/>
              </a:ext>
            </a:extLst>
          </p:cNvPr>
          <p:cNvGrpSpPr/>
          <p:nvPr/>
        </p:nvGrpSpPr>
        <p:grpSpPr>
          <a:xfrm>
            <a:off x="13957300" y="2667000"/>
            <a:ext cx="8750300" cy="1155700"/>
            <a:chOff x="13957300" y="3517900"/>
            <a:chExt cx="8750300" cy="1155700"/>
          </a:xfrm>
        </p:grpSpPr>
        <p:sp>
          <p:nvSpPr>
            <p:cNvPr id="5" name="TextBox 5"/>
            <p:cNvSpPr txBox="1"/>
            <p:nvPr/>
          </p:nvSpPr>
          <p:spPr>
            <a:xfrm>
              <a:off x="14884400" y="3517900"/>
              <a:ext cx="78232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데이터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57300" y="35179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84400" y="4127500"/>
              <a:ext cx="77724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영화진흥위원회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통합전산망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박스오피스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데이터</a:t>
              </a:r>
              <a:b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</a:br>
              <a:endParaRPr lang="ko-KR" sz="3066" b="0" i="0" u="none" strike="noStrike" dirty="0">
                <a:solidFill>
                  <a:srgbClr val="000000">
                    <a:alpha val="80000"/>
                  </a:srgbClr>
                </a:solidFill>
                <a:ea typeface="Pretendard Regular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0DFC08-E5EB-D20B-D141-32B5751442A9}"/>
              </a:ext>
            </a:extLst>
          </p:cNvPr>
          <p:cNvGrpSpPr/>
          <p:nvPr/>
        </p:nvGrpSpPr>
        <p:grpSpPr>
          <a:xfrm>
            <a:off x="13957300" y="4241800"/>
            <a:ext cx="8750300" cy="1168400"/>
            <a:chOff x="13957300" y="4851400"/>
            <a:chExt cx="8750300" cy="1168400"/>
          </a:xfrm>
        </p:grpSpPr>
        <p:sp>
          <p:nvSpPr>
            <p:cNvPr id="7" name="TextBox 7"/>
            <p:cNvSpPr txBox="1"/>
            <p:nvPr/>
          </p:nvSpPr>
          <p:spPr>
            <a:xfrm>
              <a:off x="14884400" y="4851400"/>
              <a:ext cx="78232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출처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57300" y="49149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884400" y="5473700"/>
              <a:ext cx="77724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KOFIC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영화진흥위원회</a:t>
              </a:r>
              <a:b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</a:br>
              <a:endParaRPr lang="ko-KR" sz="3066" b="0" i="0" u="none" strike="noStrike" dirty="0">
                <a:solidFill>
                  <a:srgbClr val="000000">
                    <a:alpha val="80000"/>
                  </a:srgbClr>
                </a:solidFill>
                <a:ea typeface="Pretendard Regular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6598306-63CF-876F-4C4E-0D08A7701FA9}"/>
              </a:ext>
            </a:extLst>
          </p:cNvPr>
          <p:cNvGrpSpPr/>
          <p:nvPr/>
        </p:nvGrpSpPr>
        <p:grpSpPr>
          <a:xfrm>
            <a:off x="13957300" y="5842000"/>
            <a:ext cx="8737600" cy="1168400"/>
            <a:chOff x="13957300" y="6311900"/>
            <a:chExt cx="8737600" cy="1168400"/>
          </a:xfrm>
        </p:grpSpPr>
        <p:sp>
          <p:nvSpPr>
            <p:cNvPr id="9" name="TextBox 9"/>
            <p:cNvSpPr txBox="1"/>
            <p:nvPr/>
          </p:nvSpPr>
          <p:spPr>
            <a:xfrm>
              <a:off x="14897100" y="6311900"/>
              <a:ext cx="77978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기간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57300" y="63119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71700" y="6934200"/>
              <a:ext cx="77851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2014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년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1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월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~ 2024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년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12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월</a:t>
              </a:r>
              <a:b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</a:br>
              <a:endParaRPr lang="ko-KR" sz="3066" b="0" i="0" u="none" strike="noStrike" dirty="0">
                <a:solidFill>
                  <a:srgbClr val="000000">
                    <a:alpha val="80000"/>
                  </a:srgbClr>
                </a:solidFill>
                <a:ea typeface="Pretendard Regular"/>
              </a:endParaRPr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74800" y="1295400"/>
            <a:ext cx="21678900" cy="787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2014~2024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영화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 (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S-Core Dream 7 ExtraBold"/>
              </a:rPr>
              <a:t>영화진흥위원회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)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A497A1E-1220-DA0E-DFB9-9D6C9290B7D9}"/>
              </a:ext>
            </a:extLst>
          </p:cNvPr>
          <p:cNvGrpSpPr/>
          <p:nvPr/>
        </p:nvGrpSpPr>
        <p:grpSpPr>
          <a:xfrm>
            <a:off x="13957300" y="7467600"/>
            <a:ext cx="8750300" cy="1219200"/>
            <a:chOff x="13957300" y="7721600"/>
            <a:chExt cx="8750300" cy="1219200"/>
          </a:xfrm>
        </p:grpSpPr>
        <p:sp>
          <p:nvSpPr>
            <p:cNvPr id="16" name="TextBox 16"/>
            <p:cNvSpPr txBox="1"/>
            <p:nvPr/>
          </p:nvSpPr>
          <p:spPr>
            <a:xfrm>
              <a:off x="13957300" y="77216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09800" y="8394700"/>
              <a:ext cx="77851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총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영화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수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133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09800" y="7721600"/>
              <a:ext cx="77978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샘플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개수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:
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A3D099C-E710-25FE-CA58-9253E1509D23}"/>
              </a:ext>
            </a:extLst>
          </p:cNvPr>
          <p:cNvGrpSpPr/>
          <p:nvPr/>
        </p:nvGrpSpPr>
        <p:grpSpPr>
          <a:xfrm>
            <a:off x="13931900" y="9194800"/>
            <a:ext cx="8801100" cy="1168400"/>
            <a:chOff x="13931900" y="9105900"/>
            <a:chExt cx="8801100" cy="1168400"/>
          </a:xfrm>
        </p:grpSpPr>
        <p:sp>
          <p:nvSpPr>
            <p:cNvPr id="19" name="TextBox 19"/>
            <p:cNvSpPr txBox="1"/>
            <p:nvPr/>
          </p:nvSpPr>
          <p:spPr>
            <a:xfrm>
              <a:off x="14909800" y="9105900"/>
              <a:ext cx="78232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구성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항목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31900" y="91186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22500" y="9728200"/>
              <a:ext cx="77724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제목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장르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개봉일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계절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매출액</a:t>
              </a:r>
              <a:r>
                <a:rPr lang="en-US" sz="30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관객수</a:t>
              </a:r>
              <a:br>
                <a:rPr lang="ko-KR" sz="30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</a:br>
              <a:endParaRPr lang="ko-KR" sz="3066" b="0" i="0" u="none" strike="noStrike" dirty="0">
                <a:solidFill>
                  <a:srgbClr val="000000">
                    <a:alpha val="80000"/>
                  </a:srgbClr>
                </a:solidFill>
                <a:ea typeface="Pretendard Regular"/>
              </a:endParaRPr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0" y="2743200"/>
            <a:ext cx="10693400" cy="9575800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BAD60EA1-439A-D9EA-A71E-48D316455FBF}"/>
              </a:ext>
            </a:extLst>
          </p:cNvPr>
          <p:cNvGrpSpPr/>
          <p:nvPr/>
        </p:nvGrpSpPr>
        <p:grpSpPr>
          <a:xfrm>
            <a:off x="13931900" y="11023600"/>
            <a:ext cx="8801100" cy="1168400"/>
            <a:chOff x="13931900" y="10515600"/>
            <a:chExt cx="8801100" cy="1168400"/>
          </a:xfrm>
        </p:grpSpPr>
        <p:sp>
          <p:nvSpPr>
            <p:cNvPr id="23" name="TextBox 23"/>
            <p:cNvSpPr txBox="1"/>
            <p:nvPr/>
          </p:nvSpPr>
          <p:spPr>
            <a:xfrm>
              <a:off x="14909800" y="10515600"/>
              <a:ext cx="78232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계절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분류</a:t>
              </a:r>
              <a:r>
                <a:rPr lang="en-US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</a:t>
              </a:r>
              <a:r>
                <a:rPr lang="ko-KR" sz="3466" b="0" i="0" u="none" strike="noStrike" dirty="0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기준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31900" y="10515600"/>
              <a:ext cx="901700" cy="622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" sz="3466" b="0" i="0" u="none" strike="noStrike" dirty="0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22500" y="11137900"/>
              <a:ext cx="7772400" cy="5461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봄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3~5, 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여름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6~8, 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가을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9~11, </a:t>
              </a:r>
              <a:r>
                <a:rPr lang="ko-KR" sz="3066" b="0" i="0" u="none" strike="noStrike">
                  <a:solidFill>
                    <a:srgbClr val="000000">
                      <a:alpha val="80000"/>
                    </a:srgbClr>
                  </a:solidFill>
                  <a:ea typeface="Pretendard Regular"/>
                </a:rPr>
                <a:t>겨울</a:t>
              </a:r>
              <a:r>
                <a:rPr lang="en-US" sz="3066" b="0" i="0" u="none" strike="noStrike">
                  <a:solidFill>
                    <a:srgbClr val="000000">
                      <a:alpha val="80000"/>
                    </a:srgbClr>
                  </a:solidFill>
                  <a:latin typeface="Pretendard Regular"/>
                </a:rPr>
                <a:t> 12~2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74800" y="1295400"/>
            <a:ext cx="21678900" cy="787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2014~2024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영화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 (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S-Core Dream 7 ExtraBold"/>
              </a:rPr>
              <a:t>계절별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-1)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19500" y="12319000"/>
            <a:ext cx="8940800" cy="431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출처</a:t>
            </a:r>
            <a:r>
              <a:rPr lang="en-US" alt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>
                    <a:alpha val="67843"/>
                  </a:srgbClr>
                </a:solidFill>
                <a:latin typeface="Pretendard Regular"/>
              </a:rPr>
              <a:t> 2014-2024 </a:t>
            </a: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영화진흥위원회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3187700"/>
            <a:ext cx="20167600" cy="802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7000"/>
          </a:blip>
          <a:stretch>
            <a:fillRect/>
          </a:stretch>
        </p:blipFill>
        <p:spPr>
          <a:xfrm>
            <a:off x="13398500" y="5384800"/>
            <a:ext cx="8763000" cy="4292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766800" y="6299200"/>
            <a:ext cx="8178800" cy="2463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장르별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전체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시장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점유율을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계산한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결과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, </a:t>
            </a:r>
          </a:p>
          <a:p>
            <a:pPr lvl="0" algn="l">
              <a:lnSpc>
                <a:spcPct val="141100"/>
              </a:lnSpc>
            </a:pP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액션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영화가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전체의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41.7%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를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차지하며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41100"/>
              </a:lnSpc>
            </a:pP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가장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높은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비중을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4032" b="0" i="0" u="none" strike="noStrike">
                <a:solidFill>
                  <a:srgbClr val="000000">
                    <a:alpha val="70196"/>
                  </a:srgbClr>
                </a:solidFill>
                <a:ea typeface="Pretendard Regular"/>
              </a:rPr>
              <a:t>차지했다</a:t>
            </a:r>
            <a:r>
              <a:rPr lang="en-US" sz="4032" b="0" i="0" u="none" strike="noStrike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600" y="2768600"/>
            <a:ext cx="9321800" cy="963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74800" y="1295400"/>
            <a:ext cx="21678900" cy="787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2014~2024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영화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 (</a:t>
            </a:r>
            <a:r>
              <a:rPr lang="ko-KR" altLang="en-US" sz="4000" dirty="0">
                <a:solidFill>
                  <a:srgbClr val="000000"/>
                </a:solidFill>
                <a:ea typeface="S-Core Dream 7 ExtraBold"/>
              </a:rPr>
              <a:t>장르별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)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386308" y="4305553"/>
            <a:ext cx="8902700" cy="10033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733" b="0" i="0" u="none" strike="noStrike" dirty="0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2014-2024 </a:t>
            </a:r>
            <a:r>
              <a:rPr lang="ko-KR" altLang="en-US" sz="3733" b="0" i="0" u="none" strike="noStrike" dirty="0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장르 </a:t>
            </a:r>
            <a:r>
              <a:rPr lang="ko-KR" sz="3733" b="0" i="0" u="none" strike="noStrike" dirty="0">
                <a:solidFill>
                  <a:srgbClr val="000000">
                    <a:alpha val="78039"/>
                  </a:srgbClr>
                </a:solidFill>
                <a:ea typeface="Pretendard Regular"/>
              </a:rPr>
              <a:t>점유율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19500" y="12319000"/>
            <a:ext cx="8940800" cy="431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출처</a:t>
            </a:r>
            <a:r>
              <a:rPr lang="en-US" alt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>
                    <a:alpha val="67843"/>
                  </a:srgbClr>
                </a:solidFill>
                <a:latin typeface="Pretendard Regular"/>
              </a:rPr>
              <a:t> 2014-2024 </a:t>
            </a: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영화진흥위원회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74800" y="1295400"/>
            <a:ext cx="21678900" cy="787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2014~2024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영화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 (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S-Core Dream 7 ExtraBold"/>
              </a:rPr>
              <a:t>계절별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-2)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19500" y="12319000"/>
            <a:ext cx="8940800" cy="431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출처</a:t>
            </a:r>
            <a:r>
              <a:rPr lang="en-US" alt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>
                    <a:alpha val="67843"/>
                  </a:srgbClr>
                </a:solidFill>
                <a:latin typeface="Pretendard Regular"/>
              </a:rPr>
              <a:t> 2014-2024 </a:t>
            </a: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영화진흥위원회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5700" y="3187700"/>
            <a:ext cx="20167600" cy="802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68500" y="3162300"/>
            <a:ext cx="7581900" cy="2628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2014~2019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년까지는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액션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·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드라마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·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코미디가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주도했지만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,
2020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년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OTT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확산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이후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극장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매출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구조는</a:t>
            </a:r>
            <a:b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</a:b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액션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·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범죄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·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애니메이션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중심으로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3333" b="0" i="0" u="none" strike="noStrike" spc="33">
                <a:solidFill>
                  <a:srgbClr val="000000">
                    <a:alpha val="70196"/>
                  </a:srgbClr>
                </a:solidFill>
                <a:ea typeface="Pretendard Regular"/>
              </a:rPr>
              <a:t>바뀌었다</a:t>
            </a:r>
            <a:r>
              <a:rPr lang="en-US" sz="3333" b="0" i="0" u="none" strike="noStrike" spc="33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.
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6870700"/>
            <a:ext cx="10388600" cy="5867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1968500"/>
            <a:ext cx="12776200" cy="6337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373100" y="8674100"/>
            <a:ext cx="8953500" cy="5461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OTT </a:t>
            </a:r>
            <a:r>
              <a:rPr lang="ko-KR" sz="3066" b="0" i="0" u="none" strike="noStrike">
                <a:solidFill>
                  <a:srgbClr val="000000">
                    <a:alpha val="78039"/>
                  </a:srgbClr>
                </a:solidFill>
                <a:ea typeface="Pretendard Regular"/>
              </a:rPr>
              <a:t>등장</a:t>
            </a:r>
            <a:r>
              <a:rPr lang="en-US" sz="3066" b="0" i="0" u="none" strike="noStrike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>
                <a:solidFill>
                  <a:srgbClr val="000000">
                    <a:alpha val="78039"/>
                  </a:srgbClr>
                </a:solidFill>
                <a:ea typeface="Pretendard Regular"/>
              </a:rPr>
              <a:t>전후</a:t>
            </a:r>
            <a:r>
              <a:rPr lang="en-US" sz="3066" b="0" i="0" u="none" strike="noStrike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>
                <a:solidFill>
                  <a:srgbClr val="000000">
                    <a:alpha val="78039"/>
                  </a:srgbClr>
                </a:solidFill>
                <a:ea typeface="Pretendard Regular"/>
              </a:rPr>
              <a:t>장르</a:t>
            </a:r>
            <a:r>
              <a:rPr lang="en-US" sz="3066" b="0" i="0" u="none" strike="noStrike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>
                <a:solidFill>
                  <a:srgbClr val="000000">
                    <a:alpha val="78039"/>
                  </a:srgbClr>
                </a:solidFill>
                <a:ea typeface="Pretendard Regular"/>
              </a:rPr>
              <a:t>점유율</a:t>
            </a:r>
            <a:r>
              <a:rPr lang="en-US" sz="3066" b="0" i="0" u="none" strike="noStrike">
                <a:solidFill>
                  <a:srgbClr val="000000">
                    <a:alpha val="78039"/>
                  </a:srgbClr>
                </a:solidFill>
                <a:latin typeface="Pretendard Regular"/>
              </a:rPr>
              <a:t> </a:t>
            </a:r>
            <a:r>
              <a:rPr lang="ko-KR" sz="3066" b="0" i="0" u="none" strike="noStrike">
                <a:solidFill>
                  <a:srgbClr val="000000">
                    <a:alpha val="78039"/>
                  </a:srgbClr>
                </a:solidFill>
                <a:ea typeface="Pretendard Regular"/>
              </a:rPr>
              <a:t>변화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4800" y="1295400"/>
            <a:ext cx="21678900" cy="7874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2014~2024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영화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분석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 (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S-Core Dream 7 ExtraBold"/>
              </a:rPr>
              <a:t>시간별</a:t>
            </a:r>
            <a:r>
              <a:rPr lang="en-US" alt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)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319500" y="12319000"/>
            <a:ext cx="8940800" cy="431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출처</a:t>
            </a:r>
            <a:r>
              <a:rPr lang="en-US" alt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>
                    <a:alpha val="67843"/>
                  </a:srgbClr>
                </a:solidFill>
                <a:latin typeface="Pretendard Regular"/>
              </a:rPr>
              <a:t> 2014-2024 </a:t>
            </a:r>
            <a:r>
              <a:rPr lang="ko-KR" sz="2666" b="0" i="0" u="none" strike="noStrike" dirty="0">
                <a:solidFill>
                  <a:srgbClr val="000000">
                    <a:alpha val="67843"/>
                  </a:srgbClr>
                </a:solidFill>
                <a:ea typeface="Pretendard Regular"/>
              </a:rPr>
              <a:t>영화진흥위원회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803900" y="-774700"/>
            <a:ext cx="15798800" cy="134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6743700" y="6832600"/>
            <a:ext cx="10922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778000" y="6858000"/>
            <a:ext cx="20828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500" y="3365500"/>
            <a:ext cx="6985000" cy="6985000"/>
          </a:xfrm>
          <a:prstGeom prst="rect">
            <a:avLst/>
          </a:prstGeom>
          <a:effectLst>
            <a:outerShdw blurRad="244475" dist="268654" dir="5400000">
              <a:srgbClr val="CDD9ED">
                <a:alpha val="41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3695700"/>
            <a:ext cx="6350000" cy="6350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499600" y="5930900"/>
            <a:ext cx="5422900" cy="2032000"/>
          </a:xfrm>
          <a:prstGeom prst="rect">
            <a:avLst/>
          </a:prstGeom>
        </p:spPr>
        <p:txBody>
          <a:bodyPr lIns="0" tIns="114504" rIns="0" bIns="114504" rtlCol="0" anchor="ctr"/>
          <a:lstStyle/>
          <a:p>
            <a:pPr lvl="0" algn="ctr">
              <a:lnSpc>
                <a:spcPct val="99600"/>
              </a:lnSpc>
            </a:pPr>
            <a:r>
              <a:rPr lang="ko-KR" sz="9016" b="0" i="0" u="none" strike="noStrike">
                <a:solidFill>
                  <a:srgbClr val="FFFFFF"/>
                </a:solidFill>
                <a:ea typeface="S-Core Dream 7 ExtraBold"/>
              </a:rPr>
              <a:t>개발</a:t>
            </a:r>
            <a:r>
              <a:rPr lang="en-US" sz="9016" b="0" i="0" u="none" strike="noStrike">
                <a:solidFill>
                  <a:srgbClr val="FFFFFF"/>
                </a:solidFill>
                <a:latin typeface="S-Core Dream 7 ExtraBold"/>
              </a:rPr>
              <a:t> </a:t>
            </a:r>
            <a:r>
              <a:rPr lang="ko-KR" sz="9016" b="0" i="0" u="none" strike="noStrike">
                <a:solidFill>
                  <a:srgbClr val="FFFFFF"/>
                </a:solidFill>
                <a:ea typeface="S-Core Dream 7 ExtraBold"/>
              </a:rPr>
              <a:t>환경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8000" y="1257300"/>
            <a:ext cx="6870700" cy="812800"/>
          </a:xfrm>
          <a:prstGeom prst="rect">
            <a:avLst/>
          </a:prstGeom>
        </p:spPr>
        <p:txBody>
          <a:bodyPr lIns="0" tIns="0" rIns="0" bIns="4572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599" b="0" i="0" u="none" strike="noStrike" spc="-216" dirty="0">
                <a:solidFill>
                  <a:srgbClr val="000000"/>
                </a:solidFill>
                <a:ea typeface="S-Core Dream 5 Medium"/>
              </a:rPr>
              <a:t>개발 </a:t>
            </a:r>
            <a:r>
              <a:rPr lang="en" sz="3599" b="0" i="0" u="none" strike="noStrike" spc="-216" dirty="0">
                <a:solidFill>
                  <a:srgbClr val="000000"/>
                </a:solidFill>
                <a:ea typeface="S-Core Dream 5 Medium"/>
              </a:rPr>
              <a:t>언어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8000" y="8216900"/>
            <a:ext cx="6883400" cy="812800"/>
          </a:xfrm>
          <a:prstGeom prst="rect">
            <a:avLst/>
          </a:prstGeom>
        </p:spPr>
        <p:txBody>
          <a:bodyPr lIns="0" tIns="0" rIns="0" bIns="45720" rtlCol="0" anchor="b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 spc="-216">
                <a:solidFill>
                  <a:srgbClr val="000000"/>
                </a:solidFill>
                <a:ea typeface="S-Core Dream 5 Medium"/>
              </a:rPr>
              <a:t>생성형</a:t>
            </a:r>
            <a:r>
              <a:rPr lang="en-US" sz="3600" b="0" i="0" u="none" strike="noStrike" spc="-216">
                <a:solidFill>
                  <a:srgbClr val="000000"/>
                </a:solidFill>
                <a:latin typeface="S-Core Dream 5 Medium"/>
              </a:rPr>
              <a:t> AI </a:t>
            </a:r>
            <a:r>
              <a:rPr lang="ko-KR" sz="3600" b="0" i="0" u="none" strike="noStrike" spc="-216">
                <a:solidFill>
                  <a:srgbClr val="000000"/>
                </a:solidFill>
                <a:ea typeface="S-Core Dream 5 Medium"/>
              </a:rPr>
              <a:t>사용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22600" y="1257300"/>
            <a:ext cx="6908800" cy="812800"/>
          </a:xfrm>
          <a:prstGeom prst="rect">
            <a:avLst/>
          </a:prstGeom>
        </p:spPr>
        <p:txBody>
          <a:bodyPr lIns="0" tIns="0" rIns="0" bIns="45720" rtlCol="0" anchor="b"/>
          <a:lstStyle/>
          <a:p>
            <a:pPr lvl="0" algn="r">
              <a:lnSpc>
                <a:spcPct val="99600"/>
              </a:lnSpc>
            </a:pPr>
            <a:r>
              <a:rPr lang="en" sz="3599" b="0" i="0" u="none" strike="noStrike" spc="-216">
                <a:solidFill>
                  <a:srgbClr val="000000"/>
                </a:solidFill>
                <a:ea typeface="S-Core Dream 5 Medium"/>
              </a:rPr>
              <a:t>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22600" y="7810500"/>
            <a:ext cx="6908800" cy="812800"/>
          </a:xfrm>
          <a:prstGeom prst="rect">
            <a:avLst/>
          </a:prstGeom>
        </p:spPr>
        <p:txBody>
          <a:bodyPr lIns="0" tIns="0" rIns="0" bIns="45720" rtlCol="0" anchor="b"/>
          <a:lstStyle/>
          <a:p>
            <a:pPr lvl="0" algn="r">
              <a:lnSpc>
                <a:spcPct val="99600"/>
              </a:lnSpc>
            </a:pPr>
            <a:r>
              <a:rPr lang="ko-KR" sz="3599" b="0" i="0" u="none" strike="noStrike" spc="-216">
                <a:solidFill>
                  <a:srgbClr val="000000"/>
                </a:solidFill>
                <a:ea typeface="S-Core Dream 5 Medium"/>
              </a:rPr>
              <a:t>데이터</a:t>
            </a:r>
            <a:r>
              <a:rPr lang="en-US" sz="3599" b="0" i="0" u="none" strike="noStrike" spc="-216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599" b="0" i="0" u="none" strike="noStrike" spc="-216">
                <a:solidFill>
                  <a:srgbClr val="000000"/>
                </a:solidFill>
                <a:ea typeface="S-Core Dream 5 Medium"/>
              </a:rPr>
              <a:t>소스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" y="13169900"/>
            <a:ext cx="23063200" cy="50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844800"/>
            <a:ext cx="5486400" cy="308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1500" y="9277350"/>
            <a:ext cx="3187700" cy="3187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03300" y="11315700"/>
            <a:ext cx="5486400" cy="1003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71800" y="8521700"/>
            <a:ext cx="3835400" cy="193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5700" y="2844800"/>
            <a:ext cx="3175000" cy="3175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95700" y="2895600"/>
            <a:ext cx="3086100" cy="3086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93000" y="2844800"/>
            <a:ext cx="2819400" cy="3276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39000" y="9093200"/>
            <a:ext cx="322580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 rot="-10800000">
            <a:off x="2551583" y="3917950"/>
            <a:ext cx="1461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 rot="-10800000">
            <a:off x="2662430" y="7193026"/>
            <a:ext cx="146177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 rot="-10800000">
            <a:off x="2608328" y="10366843"/>
            <a:ext cx="12080744" cy="104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E125EF-DA1F-B7A4-874C-38F92A8D3C84}"/>
              </a:ext>
            </a:extLst>
          </p:cNvPr>
          <p:cNvGrpSpPr/>
          <p:nvPr/>
        </p:nvGrpSpPr>
        <p:grpSpPr>
          <a:xfrm>
            <a:off x="1295400" y="2558458"/>
            <a:ext cx="22031452" cy="10090742"/>
            <a:chOff x="1704340" y="2558458"/>
            <a:chExt cx="22031452" cy="10090742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8424" y="2558458"/>
              <a:ext cx="21818600" cy="2762842"/>
            </a:xfrm>
            <a:prstGeom prst="rect">
              <a:avLst/>
            </a:prstGeom>
            <a:effectLst>
              <a:outerShdw blurRad="119554" dist="131378" dir="5400000">
                <a:srgbClr val="CDD9ED">
                  <a:alpha val="41000"/>
                </a:srgbClr>
              </a:outerShdw>
            </a:effectLst>
          </p:spPr>
        </p:pic>
        <p:sp>
          <p:nvSpPr>
            <p:cNvPr id="9" name="TextBox 9"/>
            <p:cNvSpPr txBox="1"/>
            <p:nvPr/>
          </p:nvSpPr>
          <p:spPr>
            <a:xfrm>
              <a:off x="2574281" y="4101019"/>
              <a:ext cx="14732000" cy="736600"/>
            </a:xfrm>
            <a:prstGeom prst="rect">
              <a:avLst/>
            </a:prstGeom>
          </p:spPr>
          <p:txBody>
            <a:bodyPr lIns="0" tIns="38947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신인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배우나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감독의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경우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과거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데이터가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부족하여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예측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모델의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정확도가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저하될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가능성이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있다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.</a:t>
              </a:r>
              <a:b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</a:br>
              <a:endParaRPr lang="en-US" sz="3066" b="0" i="0" u="none" strike="noStrike" spc="-184" dirty="0">
                <a:solidFill>
                  <a:srgbClr val="000000">
                    <a:alpha val="70196"/>
                  </a:srgbClr>
                </a:solidFill>
                <a:latin typeface="Pretendard Regular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8328" y="3054350"/>
              <a:ext cx="14744700" cy="749300"/>
            </a:xfrm>
            <a:prstGeom prst="rect">
              <a:avLst/>
            </a:prstGeom>
          </p:spPr>
          <p:txBody>
            <a:bodyPr lIns="0" tIns="42333" rIns="0" bIns="42333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" sz="3333" b="0" i="0" u="none" strike="noStrike" spc="-200" dirty="0">
                  <a:solidFill>
                    <a:srgbClr val="000000"/>
                  </a:solidFill>
                  <a:ea typeface="S-Core Dream 5 Medium"/>
                </a:rPr>
                <a:t>한계점</a:t>
              </a: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68424" y="5817192"/>
              <a:ext cx="21818600" cy="2762842"/>
            </a:xfrm>
            <a:prstGeom prst="rect">
              <a:avLst/>
            </a:prstGeom>
            <a:effectLst>
              <a:outerShdw blurRad="112640" dist="123780" dir="5400000">
                <a:srgbClr val="CDD9ED">
                  <a:alpha val="41000"/>
                </a:srgbClr>
              </a:outerShdw>
            </a:effectLst>
          </p:spPr>
        </p:pic>
        <p:sp>
          <p:nvSpPr>
            <p:cNvPr id="14" name="TextBox 14"/>
            <p:cNvSpPr txBox="1"/>
            <p:nvPr/>
          </p:nvSpPr>
          <p:spPr>
            <a:xfrm>
              <a:off x="2668016" y="7459726"/>
              <a:ext cx="14732000" cy="736600"/>
            </a:xfrm>
            <a:prstGeom prst="rect">
              <a:avLst/>
            </a:prstGeom>
          </p:spPr>
          <p:txBody>
            <a:bodyPr lIns="0" tIns="38947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데이터가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부족한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인력의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경우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장르나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동료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인력의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평균값을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활용하는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보완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기법을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적용한다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.
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8016" y="6344834"/>
              <a:ext cx="14744700" cy="749300"/>
            </a:xfrm>
            <a:prstGeom prst="rect">
              <a:avLst/>
            </a:prstGeom>
          </p:spPr>
          <p:txBody>
            <a:bodyPr lIns="0" tIns="42333" rIns="0" bIns="4233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3333" b="0" i="0" u="none" strike="noStrike" spc="-200" dirty="0">
                  <a:solidFill>
                    <a:srgbClr val="000000"/>
                  </a:solidFill>
                  <a:ea typeface="S-Core Dream 5 Medium"/>
                </a:rPr>
                <a:t>향후</a:t>
              </a:r>
              <a:r>
                <a:rPr lang="en-US" sz="3333" b="0" i="0" u="none" strike="noStrike" spc="-200" dirty="0">
                  <a:solidFill>
                    <a:srgbClr val="000000"/>
                  </a:solidFill>
                  <a:latin typeface="S-Core Dream 5 Medium"/>
                </a:rPr>
                <a:t> </a:t>
              </a:r>
              <a:r>
                <a:rPr lang="ko-KR" sz="3333" b="0" i="0" u="none" strike="noStrike" spc="-200" dirty="0">
                  <a:solidFill>
                    <a:srgbClr val="000000"/>
                  </a:solidFill>
                  <a:ea typeface="S-Core Dream 5 Medium"/>
                </a:rPr>
                <a:t>보완</a:t>
              </a:r>
              <a:r>
                <a:rPr lang="en-US" sz="3333" b="0" i="0" u="none" strike="noStrike" spc="-200" dirty="0">
                  <a:solidFill>
                    <a:srgbClr val="000000"/>
                  </a:solidFill>
                  <a:latin typeface="S-Core Dream 5 Medium"/>
                </a:rPr>
                <a:t> </a:t>
              </a:r>
              <a:r>
                <a:rPr lang="ko-KR" sz="3333" b="0" i="0" u="none" strike="noStrike" spc="-200" dirty="0">
                  <a:solidFill>
                    <a:srgbClr val="000000"/>
                  </a:solidFill>
                  <a:ea typeface="S-Core Dream 5 Medium"/>
                </a:rPr>
                <a:t>계획</a:t>
              </a: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5000" y="9059926"/>
              <a:ext cx="21818600" cy="3589274"/>
            </a:xfrm>
            <a:prstGeom prst="rect">
              <a:avLst/>
            </a:prstGeom>
            <a:effectLst>
              <a:outerShdw blurRad="138604" dist="152312" dir="5400000">
                <a:srgbClr val="CDD9ED">
                  <a:alpha val="41000"/>
                </a:srgbClr>
              </a:outerShdw>
            </a:effectLst>
          </p:spPr>
        </p:pic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34ACDC2-0AAF-969B-868E-0E8DBD99D12A}"/>
                </a:ext>
              </a:extLst>
            </p:cNvPr>
            <p:cNvGrpSpPr/>
            <p:nvPr/>
          </p:nvGrpSpPr>
          <p:grpSpPr>
            <a:xfrm>
              <a:off x="1704340" y="3667125"/>
              <a:ext cx="444500" cy="7490417"/>
              <a:chOff x="7556500" y="2743200"/>
              <a:chExt cx="444500" cy="7490417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56500" y="2743200"/>
                <a:ext cx="444500" cy="444500"/>
              </a:xfrm>
              <a:prstGeom prst="rect">
                <a:avLst/>
              </a:prstGeom>
            </p:spPr>
          </p:pic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56500" y="6140509"/>
                <a:ext cx="444500" cy="444500"/>
              </a:xfrm>
              <a:prstGeom prst="rect">
                <a:avLst/>
              </a:prstGeom>
            </p:spPr>
          </p:pic>
          <p:pic>
            <p:nvPicPr>
              <p:cNvPr id="17" name="Picture 17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56500" y="9789117"/>
                <a:ext cx="444500" cy="444500"/>
              </a:xfrm>
              <a:prstGeom prst="rect">
                <a:avLst/>
              </a:prstGeom>
            </p:spPr>
          </p:pic>
        </p:grpSp>
        <p:sp>
          <p:nvSpPr>
            <p:cNvPr id="19" name="TextBox 19"/>
            <p:cNvSpPr txBox="1"/>
            <p:nvPr/>
          </p:nvSpPr>
          <p:spPr>
            <a:xfrm>
              <a:off x="2704592" y="10617200"/>
              <a:ext cx="21031200" cy="1689100"/>
            </a:xfrm>
            <a:prstGeom prst="rect">
              <a:avLst/>
            </a:prstGeom>
          </p:spPr>
          <p:txBody>
            <a:bodyPr lIns="0" tIns="38947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영화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흥행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예측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모델은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 err="1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머신러닝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기술과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영화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데이터를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결합하여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영화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산업의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투자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·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제작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·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배급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과정에서의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의사결정을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지원하는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서비스입니다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. 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현재는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기획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단계까지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완료된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상태이며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,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향후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초기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모델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개발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및</a:t>
              </a:r>
              <a:r>
                <a:rPr lang="en-US" alt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고도화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계획을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바탕으로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실질적인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영화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흥행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예측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도구로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발전시키는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것을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목표로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 </a:t>
              </a:r>
              <a:r>
                <a:rPr lang="ko-KR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ea typeface="Pretendard Regular"/>
                </a:rPr>
                <a:t>하겠습니다</a:t>
              </a:r>
              <a:r>
                <a:rPr lang="en-US" sz="3066" b="0" i="0" u="none" strike="noStrike" spc="-184" dirty="0">
                  <a:solidFill>
                    <a:srgbClr val="000000">
                      <a:alpha val="70196"/>
                    </a:srgbClr>
                  </a:solidFill>
                  <a:latin typeface="Pretendard Regular"/>
                </a:rPr>
                <a:t>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04592" y="9461500"/>
              <a:ext cx="14744700" cy="749300"/>
            </a:xfrm>
            <a:prstGeom prst="rect">
              <a:avLst/>
            </a:prstGeom>
          </p:spPr>
          <p:txBody>
            <a:bodyPr lIns="0" tIns="42333" rIns="0" bIns="42333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" sz="3333" b="0" i="0" u="none" strike="noStrike" spc="-200" dirty="0">
                  <a:solidFill>
                    <a:srgbClr val="000000"/>
                  </a:solidFill>
                  <a:ea typeface="S-Core Dream 5 Medium"/>
                </a:rPr>
                <a:t>결론</a:t>
              </a:r>
            </a:p>
          </p:txBody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결론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endParaRPr lang="ko-KR" sz="4000" b="0" i="0" u="none" strike="noStrike" dirty="0">
              <a:solidFill>
                <a:srgbClr val="000000"/>
              </a:solidFill>
              <a:ea typeface="S-Core Dream 7 ExtraBold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BA03E9B-DB80-F77C-AB46-B5DA2C664039}"/>
              </a:ext>
            </a:extLst>
          </p:cNvPr>
          <p:cNvCxnSpPr/>
          <p:nvPr/>
        </p:nvCxnSpPr>
        <p:spPr>
          <a:xfrm flipV="1">
            <a:off x="2199388" y="3803650"/>
            <a:ext cx="20508212" cy="85725"/>
          </a:xfrm>
          <a:prstGeom prst="line">
            <a:avLst/>
          </a:prstGeom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76EF7AB-1E19-8B50-B019-5CBD362D84F9}"/>
              </a:ext>
            </a:extLst>
          </p:cNvPr>
          <p:cNvCxnSpPr/>
          <p:nvPr/>
        </p:nvCxnSpPr>
        <p:spPr>
          <a:xfrm flipV="1">
            <a:off x="2199388" y="7153275"/>
            <a:ext cx="20508212" cy="85725"/>
          </a:xfrm>
          <a:prstGeom prst="line">
            <a:avLst/>
          </a:prstGeom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4096FFD-C6CD-677C-EC4A-1966A33D1D36}"/>
              </a:ext>
            </a:extLst>
          </p:cNvPr>
          <p:cNvCxnSpPr/>
          <p:nvPr/>
        </p:nvCxnSpPr>
        <p:spPr>
          <a:xfrm flipV="1">
            <a:off x="2295652" y="10287000"/>
            <a:ext cx="20508212" cy="85725"/>
          </a:xfrm>
          <a:prstGeom prst="line">
            <a:avLst/>
          </a:prstGeom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97F1-D2E5-7B47-1ABD-86DC8A80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108154-4376-3E3B-C7F3-A2DB428DBD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5346700" y="-5346700"/>
            <a:ext cx="13741400" cy="24422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324783E-62FF-4087-6E77-1435A45A74E9}"/>
              </a:ext>
            </a:extLst>
          </p:cNvPr>
          <p:cNvSpPr txBox="1"/>
          <p:nvPr/>
        </p:nvSpPr>
        <p:spPr>
          <a:xfrm>
            <a:off x="1270000" y="2679700"/>
            <a:ext cx="17995900" cy="9867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KOFIC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영화진흥위원회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
IMDb
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영화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흥행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결정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요인과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흥행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성과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예측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연구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(</a:t>
            </a:r>
            <a:r>
              <a:rPr lang="ko-KR" sz="3200" b="0" i="0" u="none" strike="noStrike" spc="-160" dirty="0" err="1">
                <a:solidFill>
                  <a:srgbClr val="000000">
                    <a:alpha val="47843"/>
                  </a:srgbClr>
                </a:solidFill>
                <a:ea typeface="Pretendard Regular"/>
              </a:rPr>
              <a:t>김연형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·</a:t>
            </a:r>
            <a:r>
              <a:rPr lang="ko-KR" sz="3200" b="0" i="0" u="none" strike="noStrike" spc="-160" dirty="0" err="1">
                <a:solidFill>
                  <a:srgbClr val="000000">
                    <a:alpha val="47843"/>
                  </a:srgbClr>
                </a:solidFill>
                <a:ea typeface="Pretendard Regular"/>
              </a:rPr>
              <a:t>홍정한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, 2011)
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빅데이터를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활용한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 err="1">
                <a:solidFill>
                  <a:srgbClr val="000000">
                    <a:alpha val="47843"/>
                  </a:srgbClr>
                </a:solidFill>
                <a:ea typeface="Pretendard Regular"/>
              </a:rPr>
              <a:t>영화흥행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요인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분석과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예측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연구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(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김진욱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외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, 2020)
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영화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관객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수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예측을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위한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기계학습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기법의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성능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평가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연구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(</a:t>
            </a:r>
            <a:r>
              <a:rPr lang="ko-KR" sz="3200" b="0" i="0" u="none" strike="noStrike" spc="-160" dirty="0" err="1">
                <a:solidFill>
                  <a:srgbClr val="000000">
                    <a:alpha val="47843"/>
                  </a:srgbClr>
                </a:solidFill>
                <a:ea typeface="Pretendard Regular"/>
              </a:rPr>
              <a:t>정찬미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외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, 2020)
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생성형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AI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활용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(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모델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설계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및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구현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3200" b="0" i="0" u="none" strike="noStrike" spc="-160" dirty="0">
                <a:solidFill>
                  <a:srgbClr val="000000">
                    <a:alpha val="47843"/>
                  </a:srgbClr>
                </a:solidFill>
                <a:ea typeface="Pretendard Regular"/>
              </a:rPr>
              <a:t>계획</a:t>
            </a:r>
            <a:r>
              <a:rPr lang="en-US" sz="3200" b="0" i="0" u="none" strike="noStrike" spc="-160" dirty="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)</a:t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7B843346-CED0-40BD-ED93-4A8E81EE0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571500"/>
            <a:ext cx="23063200" cy="508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30FFA450-1367-166C-9DEF-2DD2C3158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3169900"/>
            <a:ext cx="23063200" cy="508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1112D324-6C24-A04E-A602-00449F8DB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1333500"/>
            <a:ext cx="127000" cy="635000"/>
          </a:xfrm>
          <a:prstGeom prst="rect">
            <a:avLst/>
          </a:prstGeom>
        </p:spPr>
      </p:pic>
      <p:sp>
        <p:nvSpPr>
          <p:cNvPr id="24" name="TextBox 24">
            <a:extLst>
              <a:ext uri="{FF2B5EF4-FFF2-40B4-BE49-F238E27FC236}">
                <a16:creationId xmlns:a16="http://schemas.microsoft.com/office/drawing/2014/main" id="{D43FA1BF-C298-C0CC-53D8-AF111B383BE8}"/>
              </a:ext>
            </a:extLst>
          </p:cNvPr>
          <p:cNvSpPr txBox="1"/>
          <p:nvPr/>
        </p:nvSpPr>
        <p:spPr>
          <a:xfrm>
            <a:off x="1574800" y="1295400"/>
            <a:ext cx="21678900" cy="8001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참고</a:t>
            </a:r>
            <a:r>
              <a:rPr lang="en-US" sz="4000" b="0" i="0" u="none" strike="noStrike" dirty="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ea typeface="S-Core Dream 7 ExtraBold"/>
              </a:rPr>
              <a:t>문헌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587BAD2-0C4D-991E-7A10-31204EB13526}"/>
              </a:ext>
            </a:extLst>
          </p:cNvPr>
          <p:cNvSpPr txBox="1"/>
          <p:nvPr/>
        </p:nvSpPr>
        <p:spPr>
          <a:xfrm>
            <a:off x="749300" y="7912100"/>
            <a:ext cx="6032500" cy="520700"/>
          </a:xfrm>
          <a:prstGeom prst="rect">
            <a:avLst/>
          </a:prstGeom>
        </p:spPr>
        <p:txBody>
          <a:bodyPr lIns="0" tIns="37254" rIns="0" bIns="0" rtlCol="0" anchor="t"/>
          <a:lstStyle/>
          <a:p>
            <a:pPr lvl="0" algn="l">
              <a:lnSpc>
                <a:spcPct val="99600"/>
              </a:lnSpc>
            </a:pPr>
            <a:endParaRPr lang="ko-KR" sz="2933" b="1" i="0" u="none" strike="noStrike" spc="-176" dirty="0">
              <a:solidFill>
                <a:srgbClr val="000000">
                  <a:alpha val="58039"/>
                </a:srgbClr>
              </a:solidFill>
              <a:ea typeface="S-Core Dream 5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195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1115</Words>
  <Application>Microsoft Office PowerPoint</Application>
  <PresentationFormat>사용자 지정</PresentationFormat>
  <Paragraphs>199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Pretendard Regular</vt:lpstr>
      <vt:lpstr>Calibri</vt:lpstr>
      <vt:lpstr>Arial</vt:lpstr>
      <vt:lpstr>맑은 고딕</vt:lpstr>
      <vt:lpstr>S-Core Dream 5 Medium</vt:lpstr>
      <vt:lpstr>S-Core Dream 3 Light</vt:lpstr>
      <vt:lpstr>Pretendard Medium</vt:lpstr>
      <vt:lpstr>S-Core Dream 7 ExtraBold</vt:lpstr>
      <vt:lpstr>Pretendard Bold</vt:lpstr>
      <vt:lpstr>S-Core Dream 4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이유진</dc:creator>
  <cp:lastModifiedBy>이유진</cp:lastModifiedBy>
  <cp:revision>4</cp:revision>
  <dcterms:created xsi:type="dcterms:W3CDTF">2006-08-16T00:00:00Z</dcterms:created>
  <dcterms:modified xsi:type="dcterms:W3CDTF">2025-12-15T06:31:28Z</dcterms:modified>
</cp:coreProperties>
</file>